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5" d="100"/>
          <a:sy n="65" d="100"/>
        </p:scale>
        <p:origin x="912"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2151B"/>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9436"/>
          </a:xfrm>
          <a:prstGeom prst="rect">
            <a:avLst/>
          </a:prstGeom>
          <a:solidFill>
            <a:srgbClr val="F5BE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21792" y="384048"/>
            <a:ext cx="10972800" cy="566928"/>
          </a:xfrm>
          <a:prstGeom prst="rect">
            <a:avLst/>
          </a:prstGeom>
          <a:noFill/>
        </p:spPr>
        <p:txBody>
          <a:bodyPr wrap="square" lIns="45720" tIns="36576" rIns="45720" bIns="27432">
            <a:spAutoFit/>
          </a:bodyPr>
          <a:lstStyle/>
          <a:p>
            <a:pPr>
              <a:spcAft>
                <a:spcPts val="500"/>
              </a:spcAft>
              <a:defRPr sz="2700" b="1">
                <a:solidFill>
                  <a:srgbClr val="F5BE2B"/>
                </a:solidFill>
                <a:latin typeface="Aptos"/>
              </a:defRPr>
            </a:pPr>
            <a:r>
              <a:t>Courier Delivery Route &amp; Tracking System</a:t>
            </a:r>
          </a:p>
        </p:txBody>
      </p:sp>
      <p:sp>
        <p:nvSpPr>
          <p:cNvPr id="4" name="TextBox 3"/>
          <p:cNvSpPr txBox="1"/>
          <p:nvPr/>
        </p:nvSpPr>
        <p:spPr>
          <a:xfrm>
            <a:off x="658368" y="987552"/>
            <a:ext cx="10789920" cy="310896"/>
          </a:xfrm>
          <a:prstGeom prst="rect">
            <a:avLst/>
          </a:prstGeom>
          <a:noFill/>
        </p:spPr>
        <p:txBody>
          <a:bodyPr wrap="square" lIns="45720" tIns="36576" rIns="45720" bIns="27432">
            <a:spAutoFit/>
          </a:bodyPr>
          <a:lstStyle/>
          <a:p>
            <a:pPr>
              <a:spcAft>
                <a:spcPts val="500"/>
              </a:spcAft>
              <a:defRPr sz="1200" b="0">
                <a:solidFill>
                  <a:srgbClr val="B1B6C0"/>
                </a:solidFill>
                <a:latin typeface="Aptos"/>
              </a:defRPr>
            </a:pPr>
            <a:r>
              <a:t>A Java-based package tracking and route management project</a:t>
            </a:r>
          </a:p>
        </p:txBody>
      </p:sp>
      <p:sp>
        <p:nvSpPr>
          <p:cNvPr id="5" name="TextBox 4"/>
          <p:cNvSpPr txBox="1"/>
          <p:nvPr/>
        </p:nvSpPr>
        <p:spPr>
          <a:xfrm>
            <a:off x="640080" y="6537960"/>
            <a:ext cx="10789920" cy="182880"/>
          </a:xfrm>
          <a:prstGeom prst="rect">
            <a:avLst/>
          </a:prstGeom>
          <a:noFill/>
        </p:spPr>
        <p:txBody>
          <a:bodyPr wrap="square" lIns="45720" tIns="36576" rIns="45720" bIns="27432">
            <a:spAutoFit/>
          </a:bodyPr>
          <a:lstStyle/>
          <a:p>
            <a:pPr>
              <a:spcAft>
                <a:spcPts val="500"/>
              </a:spcAft>
              <a:defRPr sz="800" b="0">
                <a:solidFill>
                  <a:srgbClr val="B1B6C0"/>
                </a:solidFill>
                <a:latin typeface="Aptos"/>
              </a:defRPr>
            </a:pPr>
            <a:r>
              <a:t>Courier Delivery Route &amp; Tracking System  •  1</a:t>
            </a:r>
          </a:p>
        </p:txBody>
      </p:sp>
      <p:sp>
        <p:nvSpPr>
          <p:cNvPr id="6" name="TextBox 5"/>
          <p:cNvSpPr txBox="1"/>
          <p:nvPr/>
        </p:nvSpPr>
        <p:spPr>
          <a:xfrm>
            <a:off x="731520" y="1508760"/>
            <a:ext cx="5029200" cy="320040"/>
          </a:xfrm>
          <a:prstGeom prst="rect">
            <a:avLst/>
          </a:prstGeom>
          <a:noFill/>
        </p:spPr>
        <p:txBody>
          <a:bodyPr wrap="square" lIns="45720" tIns="36576" rIns="45720" bIns="27432">
            <a:spAutoFit/>
          </a:bodyPr>
          <a:lstStyle/>
          <a:p>
            <a:pPr>
              <a:spcAft>
                <a:spcPts val="500"/>
              </a:spcAft>
              <a:defRPr sz="1400" b="1">
                <a:solidFill>
                  <a:srgbClr val="F5BE2B"/>
                </a:solidFill>
                <a:latin typeface="Aptos"/>
              </a:defRPr>
            </a:pPr>
            <a:r>
              <a:t>CAPSTONE PROJECT</a:t>
            </a:r>
          </a:p>
        </p:txBody>
      </p:sp>
      <p:sp>
        <p:nvSpPr>
          <p:cNvPr id="7" name="TextBox 6"/>
          <p:cNvSpPr txBox="1"/>
          <p:nvPr/>
        </p:nvSpPr>
        <p:spPr>
          <a:xfrm>
            <a:off x="731520" y="1874519"/>
            <a:ext cx="10698480" cy="1325880"/>
          </a:xfrm>
          <a:prstGeom prst="rect">
            <a:avLst/>
          </a:prstGeom>
          <a:noFill/>
        </p:spPr>
        <p:txBody>
          <a:bodyPr wrap="square" lIns="45720" tIns="36576" rIns="45720" bIns="27432">
            <a:spAutoFit/>
          </a:bodyPr>
          <a:lstStyle/>
          <a:p>
            <a:pPr>
              <a:spcAft>
                <a:spcPts val="500"/>
              </a:spcAft>
              <a:defRPr sz="3400" b="1">
                <a:solidFill>
                  <a:srgbClr val="F5BE2B"/>
                </a:solidFill>
                <a:latin typeface="Aptos"/>
              </a:defRPr>
            </a:pPr>
            <a:r>
              <a:t>Courier Delivery Route</a:t>
            </a:r>
          </a:p>
          <a:p>
            <a:pPr>
              <a:spcAft>
                <a:spcPts val="500"/>
              </a:spcAft>
              <a:defRPr sz="3400" b="1">
                <a:solidFill>
                  <a:srgbClr val="F5BE2B"/>
                </a:solidFill>
                <a:latin typeface="Aptos"/>
              </a:defRPr>
            </a:pPr>
            <a:r>
              <a:t>&amp; Tracking System</a:t>
            </a:r>
          </a:p>
        </p:txBody>
      </p:sp>
      <p:sp>
        <p:nvSpPr>
          <p:cNvPr id="8" name="TextBox 7"/>
          <p:cNvSpPr txBox="1"/>
          <p:nvPr/>
        </p:nvSpPr>
        <p:spPr>
          <a:xfrm>
            <a:off x="777240" y="3977639"/>
            <a:ext cx="2011680" cy="274320"/>
          </a:xfrm>
          <a:prstGeom prst="rect">
            <a:avLst/>
          </a:prstGeom>
          <a:noFill/>
        </p:spPr>
        <p:txBody>
          <a:bodyPr wrap="square" lIns="45720" tIns="36576" rIns="45720" bIns="27432">
            <a:spAutoFit/>
          </a:bodyPr>
          <a:lstStyle/>
          <a:p>
            <a:pPr>
              <a:spcAft>
                <a:spcPts val="500"/>
              </a:spcAft>
              <a:defRPr sz="1200" b="1">
                <a:solidFill>
                  <a:srgbClr val="F5BE2B"/>
                </a:solidFill>
                <a:latin typeface="Aptos"/>
              </a:defRPr>
            </a:pPr>
            <a:r>
              <a:t>TEAM MEMBERS</a:t>
            </a:r>
          </a:p>
        </p:txBody>
      </p:sp>
      <p:sp>
        <p:nvSpPr>
          <p:cNvPr id="9" name="TextBox 8"/>
          <p:cNvSpPr txBox="1"/>
          <p:nvPr/>
        </p:nvSpPr>
        <p:spPr>
          <a:xfrm>
            <a:off x="777240" y="4343400"/>
            <a:ext cx="6126480" cy="821250"/>
          </a:xfrm>
          <a:prstGeom prst="rect">
            <a:avLst/>
          </a:prstGeom>
          <a:noFill/>
        </p:spPr>
        <p:txBody>
          <a:bodyPr wrap="square" lIns="45720" tIns="36576" rIns="45720" bIns="27432">
            <a:spAutoFit/>
          </a:bodyPr>
          <a:lstStyle/>
          <a:p>
            <a:pPr>
              <a:spcAft>
                <a:spcPts val="500"/>
              </a:spcAft>
              <a:defRPr sz="1500" b="0">
                <a:solidFill>
                  <a:srgbClr val="B1B6C0"/>
                </a:solidFill>
                <a:latin typeface="Aptos"/>
              </a:defRPr>
            </a:pPr>
            <a:r>
              <a:rPr dirty="0"/>
              <a:t>N. ABHINAV REDDY  •  2620030284</a:t>
            </a:r>
          </a:p>
          <a:p>
            <a:pPr>
              <a:spcAft>
                <a:spcPts val="500"/>
              </a:spcAft>
              <a:defRPr sz="1500" b="0">
                <a:solidFill>
                  <a:srgbClr val="B1B6C0"/>
                </a:solidFill>
                <a:latin typeface="Aptos"/>
              </a:defRPr>
            </a:pPr>
            <a:r>
              <a:rPr dirty="0"/>
              <a:t>KABHILASH REDDY  •  2620090124</a:t>
            </a:r>
            <a:br>
              <a:rPr lang="en-US" dirty="0"/>
            </a:br>
            <a:r>
              <a:rPr lang="en-US" dirty="0"/>
              <a:t>K.ROHITH SRI SAI      -- 2620030708</a:t>
            </a:r>
          </a:p>
        </p:txBody>
      </p:sp>
      <p:sp>
        <p:nvSpPr>
          <p:cNvPr id="10" name="TextBox 9"/>
          <p:cNvSpPr txBox="1"/>
          <p:nvPr/>
        </p:nvSpPr>
        <p:spPr>
          <a:xfrm>
            <a:off x="6766560" y="4617720"/>
            <a:ext cx="4480560" cy="320040"/>
          </a:xfrm>
          <a:prstGeom prst="rect">
            <a:avLst/>
          </a:prstGeom>
          <a:noFill/>
        </p:spPr>
        <p:txBody>
          <a:bodyPr wrap="square" lIns="45720" tIns="36576" rIns="45720" bIns="27432">
            <a:spAutoFit/>
          </a:bodyPr>
          <a:lstStyle/>
          <a:p>
            <a:pPr algn="r">
              <a:spcAft>
                <a:spcPts val="500"/>
              </a:spcAft>
              <a:defRPr sz="1300" b="1">
                <a:solidFill>
                  <a:srgbClr val="F5BE2B"/>
                </a:solidFill>
                <a:latin typeface="Aptos"/>
              </a:defRPr>
            </a:pPr>
            <a:r>
              <a:t>FULL SYLLABUS COVERAGE  •  CO1–CO6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2151B"/>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9436"/>
          </a:xfrm>
          <a:prstGeom prst="rect">
            <a:avLst/>
          </a:prstGeom>
          <a:solidFill>
            <a:srgbClr val="F5BE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21792" y="384048"/>
            <a:ext cx="10972800" cy="566928"/>
          </a:xfrm>
          <a:prstGeom prst="rect">
            <a:avLst/>
          </a:prstGeom>
          <a:noFill/>
        </p:spPr>
        <p:txBody>
          <a:bodyPr wrap="square" lIns="45720" tIns="36576" rIns="45720" bIns="27432">
            <a:spAutoFit/>
          </a:bodyPr>
          <a:lstStyle/>
          <a:p>
            <a:pPr>
              <a:spcAft>
                <a:spcPts val="500"/>
              </a:spcAft>
              <a:defRPr sz="2700" b="1">
                <a:solidFill>
                  <a:srgbClr val="F5BE2B"/>
                </a:solidFill>
                <a:latin typeface="Aptos"/>
              </a:defRPr>
            </a:pPr>
            <a:r>
              <a:t>Abstract</a:t>
            </a:r>
          </a:p>
        </p:txBody>
      </p:sp>
      <p:sp>
        <p:nvSpPr>
          <p:cNvPr id="4" name="TextBox 3"/>
          <p:cNvSpPr txBox="1"/>
          <p:nvPr/>
        </p:nvSpPr>
        <p:spPr>
          <a:xfrm>
            <a:off x="658368" y="987552"/>
            <a:ext cx="10789920" cy="310896"/>
          </a:xfrm>
          <a:prstGeom prst="rect">
            <a:avLst/>
          </a:prstGeom>
          <a:noFill/>
        </p:spPr>
        <p:txBody>
          <a:bodyPr wrap="square" lIns="45720" tIns="36576" rIns="45720" bIns="27432">
            <a:spAutoFit/>
          </a:bodyPr>
          <a:lstStyle/>
          <a:p>
            <a:pPr>
              <a:spcAft>
                <a:spcPts val="500"/>
              </a:spcAft>
              <a:defRPr sz="1200" b="0">
                <a:solidFill>
                  <a:srgbClr val="B1B6C0"/>
                </a:solidFill>
                <a:latin typeface="Aptos"/>
              </a:defRPr>
            </a:pPr>
            <a:r>
              <a:t>A practical Java project for package and route management</a:t>
            </a:r>
          </a:p>
        </p:txBody>
      </p:sp>
      <p:sp>
        <p:nvSpPr>
          <p:cNvPr id="5" name="TextBox 4"/>
          <p:cNvSpPr txBox="1"/>
          <p:nvPr/>
        </p:nvSpPr>
        <p:spPr>
          <a:xfrm>
            <a:off x="640080" y="6537960"/>
            <a:ext cx="10789920" cy="182880"/>
          </a:xfrm>
          <a:prstGeom prst="rect">
            <a:avLst/>
          </a:prstGeom>
          <a:noFill/>
        </p:spPr>
        <p:txBody>
          <a:bodyPr wrap="square" lIns="45720" tIns="36576" rIns="45720" bIns="27432">
            <a:spAutoFit/>
          </a:bodyPr>
          <a:lstStyle/>
          <a:p>
            <a:pPr>
              <a:spcAft>
                <a:spcPts val="500"/>
              </a:spcAft>
              <a:defRPr sz="800" b="0">
                <a:solidFill>
                  <a:srgbClr val="B1B6C0"/>
                </a:solidFill>
                <a:latin typeface="Aptos"/>
              </a:defRPr>
            </a:pPr>
            <a:r>
              <a:t>Courier Delivery Route &amp; Tracking System  •  2</a:t>
            </a:r>
          </a:p>
        </p:txBody>
      </p:sp>
      <p:sp>
        <p:nvSpPr>
          <p:cNvPr id="6" name="TextBox 5"/>
          <p:cNvSpPr txBox="1"/>
          <p:nvPr/>
        </p:nvSpPr>
        <p:spPr>
          <a:xfrm>
            <a:off x="731520" y="1645920"/>
            <a:ext cx="6629400" cy="1828800"/>
          </a:xfrm>
          <a:prstGeom prst="rect">
            <a:avLst/>
          </a:prstGeom>
          <a:noFill/>
        </p:spPr>
        <p:txBody>
          <a:bodyPr wrap="square" lIns="45720" tIns="36576" rIns="45720" bIns="27432">
            <a:spAutoFit/>
          </a:bodyPr>
          <a:lstStyle/>
          <a:p>
            <a:pPr>
              <a:spcAft>
                <a:spcPts val="500"/>
              </a:spcAft>
              <a:defRPr sz="1800" b="0">
                <a:solidFill>
                  <a:srgbClr val="F2F3F6"/>
                </a:solidFill>
                <a:latin typeface="Aptos"/>
              </a:defRPr>
            </a:pPr>
            <a:r>
              <a:t>The Courier Delivery Route and Tracking System is a simple Java-based project designed to manage courier details and track delivery routes. It stores package IDs, sender and receiver details, weight, destination, and delivery status in an organized way.</a:t>
            </a:r>
          </a:p>
        </p:txBody>
      </p:sp>
      <p:sp>
        <p:nvSpPr>
          <p:cNvPr id="7" name="TextBox 6"/>
          <p:cNvSpPr txBox="1"/>
          <p:nvPr/>
        </p:nvSpPr>
        <p:spPr>
          <a:xfrm>
            <a:off x="731520" y="3657600"/>
            <a:ext cx="6629400" cy="1645920"/>
          </a:xfrm>
          <a:prstGeom prst="rect">
            <a:avLst/>
          </a:prstGeom>
          <a:noFill/>
        </p:spPr>
        <p:txBody>
          <a:bodyPr wrap="square" lIns="45720" tIns="36576" rIns="45720" bIns="27432">
            <a:spAutoFit/>
          </a:bodyPr>
          <a:lstStyle/>
          <a:p>
            <a:pPr>
              <a:spcAft>
                <a:spcPts val="500"/>
              </a:spcAft>
              <a:defRPr sz="1600" b="0">
                <a:solidFill>
                  <a:srgbClr val="B1B6C0"/>
                </a:solidFill>
                <a:latin typeface="Aptos"/>
              </a:defRPr>
            </a:pPr>
            <a:r>
              <a:t>Users can view courier information, check package status, and follow a planned route from the warehouse through delivery stops to the customer. The project demonstrates Java fundamentals and can be extended with object-oriented design, text-file storage, collections, and streams.</a:t>
            </a:r>
          </a:p>
        </p:txBody>
      </p:sp>
      <p:sp>
        <p:nvSpPr>
          <p:cNvPr id="8" name="Rounded Rectangle 7"/>
          <p:cNvSpPr/>
          <p:nvPr/>
        </p:nvSpPr>
        <p:spPr>
          <a:xfrm>
            <a:off x="7818120" y="1691640"/>
            <a:ext cx="3474720" cy="3566160"/>
          </a:xfrm>
          <a:prstGeom prst="roundRect">
            <a:avLst/>
          </a:prstGeom>
          <a:solidFill>
            <a:srgbClr val="1E2128"/>
          </a:solidFill>
          <a:ln>
            <a:solidFill>
              <a:srgbClr val="373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046720" y="2331720"/>
            <a:ext cx="3017520" cy="2011680"/>
          </a:xfrm>
          <a:prstGeom prst="rect">
            <a:avLst/>
          </a:prstGeom>
          <a:noFill/>
        </p:spPr>
        <p:txBody>
          <a:bodyPr wrap="square" lIns="45720" tIns="36576" rIns="45720" bIns="27432">
            <a:spAutoFit/>
          </a:bodyPr>
          <a:lstStyle/>
          <a:p>
            <a:pPr algn="ctr">
              <a:spcAft>
                <a:spcPts val="500"/>
              </a:spcAft>
              <a:defRPr sz="2300" b="1">
                <a:solidFill>
                  <a:srgbClr val="F5BE2B"/>
                </a:solidFill>
                <a:latin typeface="Aptos"/>
              </a:defRPr>
            </a:pPr>
            <a:r>
              <a:t>PACKAGE</a:t>
            </a:r>
          </a:p>
          <a:p>
            <a:pPr algn="ctr">
              <a:spcAft>
                <a:spcPts val="500"/>
              </a:spcAft>
              <a:defRPr sz="2300" b="1">
                <a:solidFill>
                  <a:srgbClr val="F5BE2B"/>
                </a:solidFill>
                <a:latin typeface="Aptos"/>
              </a:defRPr>
            </a:pPr>
            <a:r>
              <a:t>→ ROUTE</a:t>
            </a:r>
          </a:p>
          <a:p>
            <a:pPr algn="ctr">
              <a:spcAft>
                <a:spcPts val="500"/>
              </a:spcAft>
              <a:defRPr sz="2300" b="1">
                <a:solidFill>
                  <a:srgbClr val="F5BE2B"/>
                </a:solidFill>
                <a:latin typeface="Aptos"/>
              </a:defRPr>
            </a:pPr>
            <a:r>
              <a:t>→ STATUS</a:t>
            </a:r>
          </a:p>
          <a:p>
            <a:pPr algn="ctr">
              <a:spcAft>
                <a:spcPts val="500"/>
              </a:spcAft>
              <a:defRPr sz="2300" b="1">
                <a:solidFill>
                  <a:srgbClr val="F5BE2B"/>
                </a:solidFill>
                <a:latin typeface="Aptos"/>
              </a:defRPr>
            </a:pPr>
            <a:r>
              <a:t>→ DELIVERY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2151B"/>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9436"/>
          </a:xfrm>
          <a:prstGeom prst="rect">
            <a:avLst/>
          </a:prstGeom>
          <a:solidFill>
            <a:srgbClr val="F5BE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21792" y="384048"/>
            <a:ext cx="10972800" cy="566928"/>
          </a:xfrm>
          <a:prstGeom prst="rect">
            <a:avLst/>
          </a:prstGeom>
          <a:noFill/>
        </p:spPr>
        <p:txBody>
          <a:bodyPr wrap="square" lIns="45720" tIns="36576" rIns="45720" bIns="27432">
            <a:spAutoFit/>
          </a:bodyPr>
          <a:lstStyle/>
          <a:p>
            <a:pPr>
              <a:spcAft>
                <a:spcPts val="500"/>
              </a:spcAft>
              <a:defRPr sz="2700" b="1">
                <a:solidFill>
                  <a:srgbClr val="F5BE2B"/>
                </a:solidFill>
                <a:latin typeface="Aptos"/>
              </a:defRPr>
            </a:pPr>
            <a:r>
              <a:t>Introduction</a:t>
            </a:r>
          </a:p>
        </p:txBody>
      </p:sp>
      <p:sp>
        <p:nvSpPr>
          <p:cNvPr id="4" name="TextBox 3"/>
          <p:cNvSpPr txBox="1"/>
          <p:nvPr/>
        </p:nvSpPr>
        <p:spPr>
          <a:xfrm>
            <a:off x="658368" y="987552"/>
            <a:ext cx="10789920" cy="310896"/>
          </a:xfrm>
          <a:prstGeom prst="rect">
            <a:avLst/>
          </a:prstGeom>
          <a:noFill/>
        </p:spPr>
        <p:txBody>
          <a:bodyPr wrap="square" lIns="45720" tIns="36576" rIns="45720" bIns="27432">
            <a:spAutoFit/>
          </a:bodyPr>
          <a:lstStyle/>
          <a:p>
            <a:pPr>
              <a:spcAft>
                <a:spcPts val="500"/>
              </a:spcAft>
              <a:defRPr sz="1200" b="0">
                <a:solidFill>
                  <a:srgbClr val="B1B6C0"/>
                </a:solidFill>
                <a:latin typeface="Aptos"/>
              </a:defRPr>
            </a:pPr>
            <a:r>
              <a:t>Courier delivery is an important part of modern logistics and online shopping.</a:t>
            </a:r>
          </a:p>
        </p:txBody>
      </p:sp>
      <p:sp>
        <p:nvSpPr>
          <p:cNvPr id="5" name="TextBox 4"/>
          <p:cNvSpPr txBox="1"/>
          <p:nvPr/>
        </p:nvSpPr>
        <p:spPr>
          <a:xfrm>
            <a:off x="640080" y="6537960"/>
            <a:ext cx="10789920" cy="182880"/>
          </a:xfrm>
          <a:prstGeom prst="rect">
            <a:avLst/>
          </a:prstGeom>
          <a:noFill/>
        </p:spPr>
        <p:txBody>
          <a:bodyPr wrap="square" lIns="45720" tIns="36576" rIns="45720" bIns="27432">
            <a:spAutoFit/>
          </a:bodyPr>
          <a:lstStyle/>
          <a:p>
            <a:pPr>
              <a:spcAft>
                <a:spcPts val="500"/>
              </a:spcAft>
              <a:defRPr sz="800" b="0">
                <a:solidFill>
                  <a:srgbClr val="B1B6C0"/>
                </a:solidFill>
                <a:latin typeface="Aptos"/>
              </a:defRPr>
            </a:pPr>
            <a:r>
              <a:t>Courier Delivery Route &amp; Tracking System  •  3</a:t>
            </a:r>
          </a:p>
        </p:txBody>
      </p:sp>
      <p:sp>
        <p:nvSpPr>
          <p:cNvPr id="6" name="TextBox 5"/>
          <p:cNvSpPr txBox="1"/>
          <p:nvPr/>
        </p:nvSpPr>
        <p:spPr>
          <a:xfrm>
            <a:off x="777240" y="1828800"/>
            <a:ext cx="10424160" cy="1508760"/>
          </a:xfrm>
          <a:prstGeom prst="rect">
            <a:avLst/>
          </a:prstGeom>
          <a:noFill/>
        </p:spPr>
        <p:txBody>
          <a:bodyPr wrap="square" lIns="45720" tIns="36576" rIns="45720" bIns="27432">
            <a:spAutoFit/>
          </a:bodyPr>
          <a:lstStyle/>
          <a:p>
            <a:pPr>
              <a:spcAft>
                <a:spcPts val="500"/>
              </a:spcAft>
              <a:defRPr sz="2100" b="0">
                <a:solidFill>
                  <a:srgbClr val="F2F3F6"/>
                </a:solidFill>
                <a:latin typeface="Aptos"/>
              </a:defRPr>
            </a:pPr>
            <a:r>
              <a:t>A Courier Delivery Route and Tracking System helps organize courier details, delivery destinations, routes, and delivery status. It makes the delivery process easier to manage and helps keep track of packages from pickup to destination.</a:t>
            </a:r>
          </a:p>
        </p:txBody>
      </p:sp>
      <p:sp>
        <p:nvSpPr>
          <p:cNvPr id="7" name="Rounded Rectangle 6"/>
          <p:cNvSpPr/>
          <p:nvPr/>
        </p:nvSpPr>
        <p:spPr>
          <a:xfrm>
            <a:off x="777240" y="3886200"/>
            <a:ext cx="10515600" cy="1234440"/>
          </a:xfrm>
          <a:prstGeom prst="roundRect">
            <a:avLst/>
          </a:prstGeom>
          <a:solidFill>
            <a:srgbClr val="1E2128"/>
          </a:solidFill>
          <a:ln>
            <a:solidFill>
              <a:srgbClr val="373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51560" y="4133087"/>
            <a:ext cx="1920240" cy="274320"/>
          </a:xfrm>
          <a:prstGeom prst="rect">
            <a:avLst/>
          </a:prstGeom>
          <a:noFill/>
        </p:spPr>
        <p:txBody>
          <a:bodyPr wrap="square" lIns="45720" tIns="36576" rIns="45720" bIns="27432">
            <a:spAutoFit/>
          </a:bodyPr>
          <a:lstStyle/>
          <a:p>
            <a:pPr>
              <a:spcAft>
                <a:spcPts val="500"/>
              </a:spcAft>
              <a:defRPr sz="1400" b="1">
                <a:solidFill>
                  <a:srgbClr val="F5BE2B"/>
                </a:solidFill>
                <a:latin typeface="Aptos"/>
              </a:defRPr>
            </a:pPr>
            <a:r>
              <a:t>PROJECT IDEA</a:t>
            </a:r>
          </a:p>
        </p:txBody>
      </p:sp>
      <p:sp>
        <p:nvSpPr>
          <p:cNvPr id="9" name="TextBox 8"/>
          <p:cNvSpPr txBox="1"/>
          <p:nvPr/>
        </p:nvSpPr>
        <p:spPr>
          <a:xfrm>
            <a:off x="2834640" y="4069080"/>
            <a:ext cx="8046720" cy="502920"/>
          </a:xfrm>
          <a:prstGeom prst="rect">
            <a:avLst/>
          </a:prstGeom>
          <a:noFill/>
        </p:spPr>
        <p:txBody>
          <a:bodyPr wrap="square" lIns="45720" tIns="36576" rIns="45720" bIns="27432">
            <a:spAutoFit/>
          </a:bodyPr>
          <a:lstStyle/>
          <a:p>
            <a:pPr>
              <a:spcAft>
                <a:spcPts val="500"/>
              </a:spcAft>
              <a:defRPr sz="1600" b="0">
                <a:solidFill>
                  <a:srgbClr val="F2F3F6"/>
                </a:solidFill>
                <a:latin typeface="Aptos"/>
              </a:defRPr>
            </a:pPr>
            <a:r>
              <a:t>Store package information  •  Organize stops  •  Update status  •  Display delivery details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2151B"/>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9436"/>
          </a:xfrm>
          <a:prstGeom prst="rect">
            <a:avLst/>
          </a:prstGeom>
          <a:solidFill>
            <a:srgbClr val="F5BE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21792" y="384048"/>
            <a:ext cx="10972800" cy="566928"/>
          </a:xfrm>
          <a:prstGeom prst="rect">
            <a:avLst/>
          </a:prstGeom>
          <a:noFill/>
        </p:spPr>
        <p:txBody>
          <a:bodyPr wrap="square" lIns="45720" tIns="36576" rIns="45720" bIns="27432">
            <a:spAutoFit/>
          </a:bodyPr>
          <a:lstStyle/>
          <a:p>
            <a:pPr>
              <a:spcAft>
                <a:spcPts val="500"/>
              </a:spcAft>
              <a:defRPr sz="2700" b="1">
                <a:solidFill>
                  <a:srgbClr val="F5BE2B"/>
                </a:solidFill>
                <a:latin typeface="Aptos"/>
              </a:defRPr>
            </a:pPr>
            <a:r>
              <a:t>Problem &amp; Objective</a:t>
            </a:r>
          </a:p>
        </p:txBody>
      </p:sp>
      <p:sp>
        <p:nvSpPr>
          <p:cNvPr id="4" name="TextBox 3"/>
          <p:cNvSpPr txBox="1"/>
          <p:nvPr/>
        </p:nvSpPr>
        <p:spPr>
          <a:xfrm>
            <a:off x="658368" y="987552"/>
            <a:ext cx="10789920" cy="310896"/>
          </a:xfrm>
          <a:prstGeom prst="rect">
            <a:avLst/>
          </a:prstGeom>
          <a:noFill/>
        </p:spPr>
        <p:txBody>
          <a:bodyPr wrap="square" lIns="45720" tIns="36576" rIns="45720" bIns="27432">
            <a:spAutoFit/>
          </a:bodyPr>
          <a:lstStyle/>
          <a:p>
            <a:pPr>
              <a:spcAft>
                <a:spcPts val="500"/>
              </a:spcAft>
              <a:defRPr sz="1200" b="0">
                <a:solidFill>
                  <a:srgbClr val="B1B6C0"/>
                </a:solidFill>
                <a:latin typeface="Aptos"/>
              </a:defRPr>
            </a:pPr>
            <a:r>
              <a:t>Why the system is needed</a:t>
            </a:r>
          </a:p>
        </p:txBody>
      </p:sp>
      <p:sp>
        <p:nvSpPr>
          <p:cNvPr id="5" name="TextBox 4"/>
          <p:cNvSpPr txBox="1"/>
          <p:nvPr/>
        </p:nvSpPr>
        <p:spPr>
          <a:xfrm>
            <a:off x="640080" y="6537960"/>
            <a:ext cx="10789920" cy="182880"/>
          </a:xfrm>
          <a:prstGeom prst="rect">
            <a:avLst/>
          </a:prstGeom>
          <a:noFill/>
        </p:spPr>
        <p:txBody>
          <a:bodyPr wrap="square" lIns="45720" tIns="36576" rIns="45720" bIns="27432">
            <a:spAutoFit/>
          </a:bodyPr>
          <a:lstStyle/>
          <a:p>
            <a:pPr>
              <a:spcAft>
                <a:spcPts val="500"/>
              </a:spcAft>
              <a:defRPr sz="800" b="0">
                <a:solidFill>
                  <a:srgbClr val="B1B6C0"/>
                </a:solidFill>
                <a:latin typeface="Aptos"/>
              </a:defRPr>
            </a:pPr>
            <a:r>
              <a:t>Courier Delivery Route &amp; Tracking System  •  4</a:t>
            </a:r>
          </a:p>
        </p:txBody>
      </p:sp>
      <p:sp>
        <p:nvSpPr>
          <p:cNvPr id="6" name="Rounded Rectangle 5"/>
          <p:cNvSpPr/>
          <p:nvPr/>
        </p:nvSpPr>
        <p:spPr>
          <a:xfrm>
            <a:off x="685800" y="1508760"/>
            <a:ext cx="5166360" cy="4389120"/>
          </a:xfrm>
          <a:prstGeom prst="roundRect">
            <a:avLst/>
          </a:prstGeom>
          <a:solidFill>
            <a:srgbClr val="1E2128"/>
          </a:solidFill>
          <a:ln>
            <a:solidFill>
              <a:srgbClr val="373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172200" y="1508760"/>
            <a:ext cx="5166360" cy="4389120"/>
          </a:xfrm>
          <a:prstGeom prst="roundRect">
            <a:avLst/>
          </a:prstGeom>
          <a:solidFill>
            <a:srgbClr val="1E2128"/>
          </a:solidFill>
          <a:ln>
            <a:solidFill>
              <a:srgbClr val="373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60120" y="1810512"/>
            <a:ext cx="4389120" cy="320040"/>
          </a:xfrm>
          <a:prstGeom prst="rect">
            <a:avLst/>
          </a:prstGeom>
          <a:noFill/>
        </p:spPr>
        <p:txBody>
          <a:bodyPr wrap="square" lIns="45720" tIns="36576" rIns="45720" bIns="27432">
            <a:spAutoFit/>
          </a:bodyPr>
          <a:lstStyle/>
          <a:p>
            <a:pPr>
              <a:spcAft>
                <a:spcPts val="500"/>
              </a:spcAft>
              <a:defRPr sz="1600" b="1">
                <a:solidFill>
                  <a:srgbClr val="F5BE2B"/>
                </a:solidFill>
                <a:latin typeface="Aptos"/>
              </a:defRPr>
            </a:pPr>
            <a:r>
              <a:t>THE PROBLEM</a:t>
            </a:r>
          </a:p>
        </p:txBody>
      </p:sp>
      <p:sp>
        <p:nvSpPr>
          <p:cNvPr id="9" name="TextBox 8"/>
          <p:cNvSpPr txBox="1"/>
          <p:nvPr/>
        </p:nvSpPr>
        <p:spPr>
          <a:xfrm>
            <a:off x="960120" y="2267712"/>
            <a:ext cx="4526280" cy="3108960"/>
          </a:xfrm>
          <a:prstGeom prst="rect">
            <a:avLst/>
          </a:prstGeom>
          <a:noFill/>
        </p:spPr>
        <p:txBody>
          <a:bodyPr wrap="square" lIns="45720" tIns="36576" rIns="45720" bIns="27432">
            <a:spAutoFit/>
          </a:bodyPr>
          <a:lstStyle/>
          <a:p>
            <a:pPr>
              <a:spcAft>
                <a:spcPts val="500"/>
              </a:spcAft>
              <a:defRPr sz="1800" b="0">
                <a:solidFill>
                  <a:srgbClr val="F2F3F6"/>
                </a:solidFill>
                <a:latin typeface="Aptos"/>
              </a:defRPr>
            </a:pPr>
            <a:r>
              <a:t>• Customers need accurate delivery status updates.</a:t>
            </a:r>
          </a:p>
          <a:p>
            <a:pPr>
              <a:spcAft>
                <a:spcPts val="500"/>
              </a:spcAft>
              <a:defRPr sz="1800" b="0">
                <a:solidFill>
                  <a:srgbClr val="F2F3F6"/>
                </a:solidFill>
                <a:latin typeface="Aptos"/>
              </a:defRPr>
            </a:pPr>
            <a:endParaRPr/>
          </a:p>
          <a:p>
            <a:pPr>
              <a:spcAft>
                <a:spcPts val="500"/>
              </a:spcAft>
              <a:defRPr sz="1800" b="0">
                <a:solidFill>
                  <a:srgbClr val="F2F3F6"/>
                </a:solidFill>
                <a:latin typeface="Aptos"/>
              </a:defRPr>
            </a:pPr>
            <a:r>
              <a:t>• Couriers need an organized sequence for multiple stops.</a:t>
            </a:r>
          </a:p>
          <a:p>
            <a:pPr>
              <a:spcAft>
                <a:spcPts val="500"/>
              </a:spcAft>
              <a:defRPr sz="1800" b="0">
                <a:solidFill>
                  <a:srgbClr val="F2F3F6"/>
                </a:solidFill>
                <a:latin typeface="Aptos"/>
              </a:defRPr>
            </a:pPr>
            <a:endParaRPr/>
          </a:p>
          <a:p>
            <a:pPr>
              <a:spcAft>
                <a:spcPts val="500"/>
              </a:spcAft>
              <a:defRPr sz="1800" b="0">
                <a:solidFill>
                  <a:srgbClr val="F2F3F6"/>
                </a:solidFill>
                <a:latin typeface="Aptos"/>
              </a:defRPr>
            </a:pPr>
            <a:r>
              <a:t>• Multiple packages must be managed without losing information.</a:t>
            </a:r>
          </a:p>
        </p:txBody>
      </p:sp>
      <p:sp>
        <p:nvSpPr>
          <p:cNvPr id="10" name="TextBox 9"/>
          <p:cNvSpPr txBox="1"/>
          <p:nvPr/>
        </p:nvSpPr>
        <p:spPr>
          <a:xfrm>
            <a:off x="6446520" y="1810512"/>
            <a:ext cx="4389120" cy="320040"/>
          </a:xfrm>
          <a:prstGeom prst="rect">
            <a:avLst/>
          </a:prstGeom>
          <a:noFill/>
        </p:spPr>
        <p:txBody>
          <a:bodyPr wrap="square" lIns="45720" tIns="36576" rIns="45720" bIns="27432">
            <a:spAutoFit/>
          </a:bodyPr>
          <a:lstStyle/>
          <a:p>
            <a:pPr>
              <a:spcAft>
                <a:spcPts val="500"/>
              </a:spcAft>
              <a:defRPr sz="1600" b="1">
                <a:solidFill>
                  <a:srgbClr val="F5BE2B"/>
                </a:solidFill>
                <a:latin typeface="Aptos"/>
              </a:defRPr>
            </a:pPr>
            <a:r>
              <a:t>OBJECTIVES</a:t>
            </a:r>
          </a:p>
        </p:txBody>
      </p:sp>
      <p:sp>
        <p:nvSpPr>
          <p:cNvPr id="11" name="TextBox 10"/>
          <p:cNvSpPr txBox="1"/>
          <p:nvPr/>
        </p:nvSpPr>
        <p:spPr>
          <a:xfrm>
            <a:off x="6446520" y="2267712"/>
            <a:ext cx="4526280" cy="3108960"/>
          </a:xfrm>
          <a:prstGeom prst="rect">
            <a:avLst/>
          </a:prstGeom>
          <a:noFill/>
        </p:spPr>
        <p:txBody>
          <a:bodyPr wrap="square" lIns="45720" tIns="36576" rIns="45720" bIns="27432">
            <a:spAutoFit/>
          </a:bodyPr>
          <a:lstStyle/>
          <a:p>
            <a:pPr>
              <a:spcAft>
                <a:spcPts val="500"/>
              </a:spcAft>
              <a:defRPr sz="1800" b="0">
                <a:solidFill>
                  <a:srgbClr val="F2F3F6"/>
                </a:solidFill>
                <a:latin typeface="Aptos"/>
              </a:defRPr>
            </a:pPr>
            <a:r>
              <a:t>• Manage courier and package details.</a:t>
            </a:r>
          </a:p>
          <a:p>
            <a:pPr>
              <a:spcAft>
                <a:spcPts val="500"/>
              </a:spcAft>
              <a:defRPr sz="1800" b="0">
                <a:solidFill>
                  <a:srgbClr val="F2F3F6"/>
                </a:solidFill>
                <a:latin typeface="Aptos"/>
              </a:defRPr>
            </a:pPr>
            <a:endParaRPr/>
          </a:p>
          <a:p>
            <a:pPr>
              <a:spcAft>
                <a:spcPts val="500"/>
              </a:spcAft>
              <a:defRPr sz="1800" b="0">
                <a:solidFill>
                  <a:srgbClr val="F2F3F6"/>
                </a:solidFill>
                <a:latin typeface="Aptos"/>
              </a:defRPr>
            </a:pPr>
            <a:r>
              <a:t>• Track package delivery status.</a:t>
            </a:r>
          </a:p>
          <a:p>
            <a:pPr>
              <a:spcAft>
                <a:spcPts val="500"/>
              </a:spcAft>
              <a:defRPr sz="1800" b="0">
                <a:solidFill>
                  <a:srgbClr val="F2F3F6"/>
                </a:solidFill>
                <a:latin typeface="Aptos"/>
              </a:defRPr>
            </a:pPr>
            <a:endParaRPr/>
          </a:p>
          <a:p>
            <a:pPr>
              <a:spcAft>
                <a:spcPts val="500"/>
              </a:spcAft>
              <a:defRPr sz="1800" b="0">
                <a:solidFill>
                  <a:srgbClr val="F2F3F6"/>
                </a:solidFill>
                <a:latin typeface="Aptos"/>
              </a:defRPr>
            </a:pPr>
            <a:r>
              <a:t>• Organize delivery routes.</a:t>
            </a:r>
          </a:p>
          <a:p>
            <a:pPr>
              <a:spcAft>
                <a:spcPts val="500"/>
              </a:spcAft>
              <a:defRPr sz="1800" b="0">
                <a:solidFill>
                  <a:srgbClr val="F2F3F6"/>
                </a:solidFill>
                <a:latin typeface="Aptos"/>
              </a:defRPr>
            </a:pPr>
            <a:endParaRPr/>
          </a:p>
          <a:p>
            <a:pPr>
              <a:spcAft>
                <a:spcPts val="500"/>
              </a:spcAft>
              <a:defRPr sz="1800" b="0">
                <a:solidFill>
                  <a:srgbClr val="F2F3F6"/>
                </a:solidFill>
                <a:latin typeface="Aptos"/>
              </a:defRPr>
            </a:pPr>
            <a:r>
              <a:t>• Demonstrate practical Java programming concepts.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2151B"/>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9436"/>
          </a:xfrm>
          <a:prstGeom prst="rect">
            <a:avLst/>
          </a:prstGeom>
          <a:solidFill>
            <a:srgbClr val="F5BE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21792" y="384048"/>
            <a:ext cx="10972800" cy="566928"/>
          </a:xfrm>
          <a:prstGeom prst="rect">
            <a:avLst/>
          </a:prstGeom>
          <a:noFill/>
        </p:spPr>
        <p:txBody>
          <a:bodyPr wrap="square" lIns="45720" tIns="36576" rIns="45720" bIns="27432">
            <a:spAutoFit/>
          </a:bodyPr>
          <a:lstStyle/>
          <a:p>
            <a:pPr>
              <a:spcAft>
                <a:spcPts val="500"/>
              </a:spcAft>
              <a:defRPr sz="2700" b="1">
                <a:solidFill>
                  <a:srgbClr val="F5BE2B"/>
                </a:solidFill>
                <a:latin typeface="Aptos"/>
              </a:defRPr>
            </a:pPr>
            <a:r>
              <a:t>Java Implementation</a:t>
            </a:r>
          </a:p>
        </p:txBody>
      </p:sp>
      <p:sp>
        <p:nvSpPr>
          <p:cNvPr id="4" name="TextBox 3"/>
          <p:cNvSpPr txBox="1"/>
          <p:nvPr/>
        </p:nvSpPr>
        <p:spPr>
          <a:xfrm>
            <a:off x="658368" y="987552"/>
            <a:ext cx="10789920" cy="310896"/>
          </a:xfrm>
          <a:prstGeom prst="rect">
            <a:avLst/>
          </a:prstGeom>
          <a:noFill/>
        </p:spPr>
        <p:txBody>
          <a:bodyPr wrap="square" lIns="45720" tIns="36576" rIns="45720" bIns="27432">
            <a:spAutoFit/>
          </a:bodyPr>
          <a:lstStyle/>
          <a:p>
            <a:pPr>
              <a:spcAft>
                <a:spcPts val="500"/>
              </a:spcAft>
              <a:defRPr sz="1200" b="0">
                <a:solidFill>
                  <a:srgbClr val="B1B6C0"/>
                </a:solidFill>
                <a:latin typeface="Aptos"/>
              </a:defRPr>
            </a:pPr>
            <a:r>
              <a:t>Package data and route management</a:t>
            </a:r>
          </a:p>
        </p:txBody>
      </p:sp>
      <p:sp>
        <p:nvSpPr>
          <p:cNvPr id="5" name="TextBox 4"/>
          <p:cNvSpPr txBox="1"/>
          <p:nvPr/>
        </p:nvSpPr>
        <p:spPr>
          <a:xfrm>
            <a:off x="640080" y="6537960"/>
            <a:ext cx="10789920" cy="182880"/>
          </a:xfrm>
          <a:prstGeom prst="rect">
            <a:avLst/>
          </a:prstGeom>
          <a:noFill/>
        </p:spPr>
        <p:txBody>
          <a:bodyPr wrap="square" lIns="45720" tIns="36576" rIns="45720" bIns="27432">
            <a:spAutoFit/>
          </a:bodyPr>
          <a:lstStyle/>
          <a:p>
            <a:pPr>
              <a:spcAft>
                <a:spcPts val="500"/>
              </a:spcAft>
              <a:defRPr sz="800" b="0">
                <a:solidFill>
                  <a:srgbClr val="B1B6C0"/>
                </a:solidFill>
                <a:latin typeface="Aptos"/>
              </a:defRPr>
            </a:pPr>
            <a:r>
              <a:t>Courier Delivery Route &amp; Tracking System  •  5</a:t>
            </a:r>
          </a:p>
        </p:txBody>
      </p:sp>
      <p:sp>
        <p:nvSpPr>
          <p:cNvPr id="6" name="TextBox 5"/>
          <p:cNvSpPr txBox="1"/>
          <p:nvPr/>
        </p:nvSpPr>
        <p:spPr>
          <a:xfrm>
            <a:off x="777240" y="1554480"/>
            <a:ext cx="4754880" cy="320040"/>
          </a:xfrm>
          <a:prstGeom prst="rect">
            <a:avLst/>
          </a:prstGeom>
          <a:noFill/>
        </p:spPr>
        <p:txBody>
          <a:bodyPr wrap="square" lIns="45720" tIns="36576" rIns="45720" bIns="27432">
            <a:spAutoFit/>
          </a:bodyPr>
          <a:lstStyle/>
          <a:p>
            <a:pPr>
              <a:spcAft>
                <a:spcPts val="500"/>
              </a:spcAft>
              <a:defRPr sz="1600" b="1">
                <a:solidFill>
                  <a:srgbClr val="F5BE2B"/>
                </a:solidFill>
                <a:latin typeface="Aptos"/>
              </a:defRPr>
            </a:pPr>
            <a:r>
              <a:t>PACKAGE DATA</a:t>
            </a:r>
          </a:p>
        </p:txBody>
      </p:sp>
      <p:sp>
        <p:nvSpPr>
          <p:cNvPr id="7" name="TextBox 6"/>
          <p:cNvSpPr txBox="1"/>
          <p:nvPr/>
        </p:nvSpPr>
        <p:spPr>
          <a:xfrm>
            <a:off x="822960" y="2011680"/>
            <a:ext cx="4754880" cy="2743200"/>
          </a:xfrm>
          <a:prstGeom prst="rect">
            <a:avLst/>
          </a:prstGeom>
          <a:noFill/>
        </p:spPr>
        <p:txBody>
          <a:bodyPr wrap="square" lIns="45720" tIns="36576" rIns="45720" bIns="27432">
            <a:spAutoFit/>
          </a:bodyPr>
          <a:lstStyle/>
          <a:p>
            <a:pPr>
              <a:spcAft>
                <a:spcPts val="500"/>
              </a:spcAft>
              <a:defRPr sz="1800" b="0">
                <a:solidFill>
                  <a:srgbClr val="F2F3F6"/>
                </a:solidFill>
                <a:latin typeface="Aptos"/>
              </a:defRPr>
            </a:pPr>
            <a:r>
              <a:t>• Package ID — String array</a:t>
            </a:r>
          </a:p>
          <a:p>
            <a:pPr>
              <a:spcAft>
                <a:spcPts val="500"/>
              </a:spcAft>
              <a:defRPr sz="1800" b="0">
                <a:solidFill>
                  <a:srgbClr val="F2F3F6"/>
                </a:solidFill>
                <a:latin typeface="Aptos"/>
              </a:defRPr>
            </a:pPr>
            <a:r>
              <a:t>• Sender &amp; receiver — String arrays</a:t>
            </a:r>
          </a:p>
          <a:p>
            <a:pPr>
              <a:spcAft>
                <a:spcPts val="500"/>
              </a:spcAft>
              <a:defRPr sz="1800" b="0">
                <a:solidFill>
                  <a:srgbClr val="F2F3F6"/>
                </a:solidFill>
                <a:latin typeface="Aptos"/>
              </a:defRPr>
            </a:pPr>
            <a:r>
              <a:t>• Weight — double array</a:t>
            </a:r>
          </a:p>
          <a:p>
            <a:pPr>
              <a:spcAft>
                <a:spcPts val="500"/>
              </a:spcAft>
              <a:defRPr sz="1800" b="0">
                <a:solidFill>
                  <a:srgbClr val="F2F3F6"/>
                </a:solidFill>
                <a:latin typeface="Aptos"/>
              </a:defRPr>
            </a:pPr>
            <a:r>
              <a:t>• Status — String array</a:t>
            </a:r>
          </a:p>
          <a:p>
            <a:pPr>
              <a:spcAft>
                <a:spcPts val="500"/>
              </a:spcAft>
              <a:defRPr sz="1800" b="0">
                <a:solidFill>
                  <a:srgbClr val="F2F3F6"/>
                </a:solidFill>
                <a:latin typeface="Aptos"/>
              </a:defRPr>
            </a:pPr>
            <a:r>
              <a:t>• Status flow: Pending → In Transit → Delivered</a:t>
            </a:r>
          </a:p>
        </p:txBody>
      </p:sp>
      <p:sp>
        <p:nvSpPr>
          <p:cNvPr id="8" name="TextBox 7"/>
          <p:cNvSpPr txBox="1"/>
          <p:nvPr/>
        </p:nvSpPr>
        <p:spPr>
          <a:xfrm>
            <a:off x="6309360" y="1554480"/>
            <a:ext cx="4572000" cy="320040"/>
          </a:xfrm>
          <a:prstGeom prst="rect">
            <a:avLst/>
          </a:prstGeom>
          <a:noFill/>
        </p:spPr>
        <p:txBody>
          <a:bodyPr wrap="square" lIns="45720" tIns="36576" rIns="45720" bIns="27432">
            <a:spAutoFit/>
          </a:bodyPr>
          <a:lstStyle/>
          <a:p>
            <a:pPr>
              <a:spcAft>
                <a:spcPts val="500"/>
              </a:spcAft>
              <a:defRPr sz="1600" b="1">
                <a:solidFill>
                  <a:srgbClr val="F5BE2B"/>
                </a:solidFill>
                <a:latin typeface="Aptos"/>
              </a:defRPr>
            </a:pPr>
            <a:r>
              <a:t>ROUTE ARRAY</a:t>
            </a:r>
          </a:p>
        </p:txBody>
      </p:sp>
      <p:sp>
        <p:nvSpPr>
          <p:cNvPr id="9" name="TextBox 8"/>
          <p:cNvSpPr txBox="1"/>
          <p:nvPr/>
        </p:nvSpPr>
        <p:spPr>
          <a:xfrm>
            <a:off x="6309360" y="2057400"/>
            <a:ext cx="4663440" cy="2560320"/>
          </a:xfrm>
          <a:prstGeom prst="rect">
            <a:avLst/>
          </a:prstGeom>
          <a:noFill/>
        </p:spPr>
        <p:txBody>
          <a:bodyPr wrap="square" lIns="45720" tIns="36576" rIns="45720" bIns="27432">
            <a:spAutoFit/>
          </a:bodyPr>
          <a:lstStyle/>
          <a:p>
            <a:pPr>
              <a:spcAft>
                <a:spcPts val="500"/>
              </a:spcAft>
              <a:defRPr sz="1800" b="0">
                <a:solidFill>
                  <a:srgbClr val="F2F3F6"/>
                </a:solidFill>
                <a:latin typeface="Aptos"/>
              </a:defRPr>
            </a:pPr>
            <a:r>
              <a:t>WAREHOUSE → STOP A → STOP B</a:t>
            </a:r>
          </a:p>
          <a:p>
            <a:pPr>
              <a:spcAft>
                <a:spcPts val="500"/>
              </a:spcAft>
              <a:defRPr sz="1800" b="0">
                <a:solidFill>
                  <a:srgbClr val="F2F3F6"/>
                </a:solidFill>
                <a:latin typeface="Aptos"/>
              </a:defRPr>
            </a:pPr>
            <a:r>
              <a:t>→ STOP C → CUSTOMER</a:t>
            </a:r>
          </a:p>
          <a:p>
            <a:pPr>
              <a:spcAft>
                <a:spcPts val="500"/>
              </a:spcAft>
              <a:defRPr sz="1800" b="0">
                <a:solidFill>
                  <a:srgbClr val="F2F3F6"/>
                </a:solidFill>
                <a:latin typeface="Aptos"/>
              </a:defRPr>
            </a:pPr>
            <a:endParaRPr/>
          </a:p>
          <a:p>
            <a:pPr>
              <a:spcAft>
                <a:spcPts val="500"/>
              </a:spcAft>
              <a:defRPr sz="1800" b="0">
                <a:solidFill>
                  <a:srgbClr val="F2F3F6"/>
                </a:solidFill>
                <a:latin typeface="Aptos"/>
              </a:defRPr>
            </a:pPr>
            <a:r>
              <a:t>• Loops process route positions.</a:t>
            </a:r>
          </a:p>
          <a:p>
            <a:pPr>
              <a:spcAft>
                <a:spcPts val="500"/>
              </a:spcAft>
              <a:defRPr sz="1800" b="0">
                <a:solidFill>
                  <a:srgbClr val="F2F3F6"/>
                </a:solidFill>
                <a:latin typeface="Aptos"/>
              </a:defRPr>
            </a:pPr>
            <a:r>
              <a:t>• Conditions track and update package status.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2151B"/>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9436"/>
          </a:xfrm>
          <a:prstGeom prst="rect">
            <a:avLst/>
          </a:prstGeom>
          <a:solidFill>
            <a:srgbClr val="F5BE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21792" y="384048"/>
            <a:ext cx="10972800" cy="566928"/>
          </a:xfrm>
          <a:prstGeom prst="rect">
            <a:avLst/>
          </a:prstGeom>
          <a:noFill/>
        </p:spPr>
        <p:txBody>
          <a:bodyPr wrap="square" lIns="45720" tIns="36576" rIns="45720" bIns="27432">
            <a:spAutoFit/>
          </a:bodyPr>
          <a:lstStyle/>
          <a:p>
            <a:pPr>
              <a:spcAft>
                <a:spcPts val="500"/>
              </a:spcAft>
              <a:defRPr sz="2700" b="1">
                <a:solidFill>
                  <a:srgbClr val="F5BE2B"/>
                </a:solidFill>
                <a:latin typeface="Aptos"/>
              </a:defRPr>
            </a:pPr>
            <a:r>
              <a:t>Project Development &amp; Tracking Flow</a:t>
            </a:r>
          </a:p>
        </p:txBody>
      </p:sp>
      <p:sp>
        <p:nvSpPr>
          <p:cNvPr id="4" name="TextBox 3"/>
          <p:cNvSpPr txBox="1"/>
          <p:nvPr/>
        </p:nvSpPr>
        <p:spPr>
          <a:xfrm>
            <a:off x="658368" y="987552"/>
            <a:ext cx="10789920" cy="310896"/>
          </a:xfrm>
          <a:prstGeom prst="rect">
            <a:avLst/>
          </a:prstGeom>
          <a:noFill/>
        </p:spPr>
        <p:txBody>
          <a:bodyPr wrap="square" lIns="45720" tIns="36576" rIns="45720" bIns="27432">
            <a:spAutoFit/>
          </a:bodyPr>
          <a:lstStyle/>
          <a:p>
            <a:pPr>
              <a:spcAft>
                <a:spcPts val="500"/>
              </a:spcAft>
              <a:defRPr sz="1200" b="0">
                <a:solidFill>
                  <a:srgbClr val="B1B6C0"/>
                </a:solidFill>
                <a:latin typeface="Aptos"/>
              </a:defRPr>
            </a:pPr>
            <a:r>
              <a:t>How the system is developed and used</a:t>
            </a:r>
          </a:p>
        </p:txBody>
      </p:sp>
      <p:sp>
        <p:nvSpPr>
          <p:cNvPr id="5" name="TextBox 4"/>
          <p:cNvSpPr txBox="1"/>
          <p:nvPr/>
        </p:nvSpPr>
        <p:spPr>
          <a:xfrm>
            <a:off x="640080" y="6537960"/>
            <a:ext cx="10789920" cy="182880"/>
          </a:xfrm>
          <a:prstGeom prst="rect">
            <a:avLst/>
          </a:prstGeom>
          <a:noFill/>
        </p:spPr>
        <p:txBody>
          <a:bodyPr wrap="square" lIns="45720" tIns="36576" rIns="45720" bIns="27432">
            <a:spAutoFit/>
          </a:bodyPr>
          <a:lstStyle/>
          <a:p>
            <a:pPr>
              <a:spcAft>
                <a:spcPts val="500"/>
              </a:spcAft>
              <a:defRPr sz="800" b="0">
                <a:solidFill>
                  <a:srgbClr val="B1B6C0"/>
                </a:solidFill>
                <a:latin typeface="Aptos"/>
              </a:defRPr>
            </a:pPr>
            <a:r>
              <a:t>Courier Delivery Route &amp; Tracking System  •  6</a:t>
            </a:r>
          </a:p>
        </p:txBody>
      </p:sp>
      <p:sp>
        <p:nvSpPr>
          <p:cNvPr id="6" name="TextBox 5"/>
          <p:cNvSpPr txBox="1"/>
          <p:nvPr/>
        </p:nvSpPr>
        <p:spPr>
          <a:xfrm>
            <a:off x="777240" y="1600200"/>
            <a:ext cx="4663440" cy="320040"/>
          </a:xfrm>
          <a:prstGeom prst="rect">
            <a:avLst/>
          </a:prstGeom>
          <a:noFill/>
        </p:spPr>
        <p:txBody>
          <a:bodyPr wrap="square" lIns="45720" tIns="36576" rIns="45720" bIns="27432">
            <a:spAutoFit/>
          </a:bodyPr>
          <a:lstStyle/>
          <a:p>
            <a:pPr>
              <a:spcAft>
                <a:spcPts val="500"/>
              </a:spcAft>
              <a:defRPr sz="1600" b="1">
                <a:solidFill>
                  <a:srgbClr val="F5BE2B"/>
                </a:solidFill>
                <a:latin typeface="Aptos"/>
              </a:defRPr>
            </a:pPr>
            <a:r>
              <a:t>DEVELOPMENT</a:t>
            </a:r>
          </a:p>
        </p:txBody>
      </p:sp>
      <p:sp>
        <p:nvSpPr>
          <p:cNvPr id="7" name="TextBox 6"/>
          <p:cNvSpPr txBox="1"/>
          <p:nvPr/>
        </p:nvSpPr>
        <p:spPr>
          <a:xfrm>
            <a:off x="822960" y="2057400"/>
            <a:ext cx="4663440" cy="2926080"/>
          </a:xfrm>
          <a:prstGeom prst="rect">
            <a:avLst/>
          </a:prstGeom>
          <a:noFill/>
        </p:spPr>
        <p:txBody>
          <a:bodyPr wrap="square" lIns="45720" tIns="36576" rIns="45720" bIns="27432">
            <a:spAutoFit/>
          </a:bodyPr>
          <a:lstStyle/>
          <a:p>
            <a:pPr>
              <a:spcAft>
                <a:spcPts val="500"/>
              </a:spcAft>
              <a:defRPr sz="1800" b="0">
                <a:solidFill>
                  <a:srgbClr val="F2F3F6"/>
                </a:solidFill>
                <a:latin typeface="Aptos"/>
              </a:defRPr>
            </a:pPr>
            <a:r>
              <a:t>• Language: Java</a:t>
            </a:r>
          </a:p>
          <a:p>
            <a:pPr>
              <a:spcAft>
                <a:spcPts val="500"/>
              </a:spcAft>
              <a:defRPr sz="1800" b="0">
                <a:solidFill>
                  <a:srgbClr val="F2F3F6"/>
                </a:solidFill>
                <a:latin typeface="Aptos"/>
              </a:defRPr>
            </a:pPr>
            <a:r>
              <a:t>• Tool: Java IDE</a:t>
            </a:r>
          </a:p>
          <a:p>
            <a:pPr>
              <a:spcAft>
                <a:spcPts val="500"/>
              </a:spcAft>
              <a:defRPr sz="1800" b="0">
                <a:solidFill>
                  <a:srgbClr val="F2F3F6"/>
                </a:solidFill>
                <a:latin typeface="Aptos"/>
              </a:defRPr>
            </a:pPr>
            <a:r>
              <a:t>• Console-based menu</a:t>
            </a:r>
          </a:p>
          <a:p>
            <a:pPr>
              <a:spcAft>
                <a:spcPts val="500"/>
              </a:spcAft>
              <a:defRPr sz="1800" b="0">
                <a:solidFill>
                  <a:srgbClr val="F2F3F6"/>
                </a:solidFill>
                <a:latin typeface="Aptos"/>
              </a:defRPr>
            </a:pPr>
            <a:r>
              <a:t>• Arrays for package and route data</a:t>
            </a:r>
          </a:p>
          <a:p>
            <a:pPr>
              <a:spcAft>
                <a:spcPts val="500"/>
              </a:spcAft>
              <a:defRPr sz="1800" b="0">
                <a:solidFill>
                  <a:srgbClr val="F2F3F6"/>
                </a:solidFill>
                <a:latin typeface="Aptos"/>
              </a:defRPr>
            </a:pPr>
            <a:r>
              <a:t>• Loops, if-else and switch statements</a:t>
            </a:r>
          </a:p>
        </p:txBody>
      </p:sp>
      <p:sp>
        <p:nvSpPr>
          <p:cNvPr id="8" name="TextBox 7"/>
          <p:cNvSpPr txBox="1"/>
          <p:nvPr/>
        </p:nvSpPr>
        <p:spPr>
          <a:xfrm>
            <a:off x="6309360" y="1600200"/>
            <a:ext cx="4663440" cy="320040"/>
          </a:xfrm>
          <a:prstGeom prst="rect">
            <a:avLst/>
          </a:prstGeom>
          <a:noFill/>
        </p:spPr>
        <p:txBody>
          <a:bodyPr wrap="square" lIns="45720" tIns="36576" rIns="45720" bIns="27432">
            <a:spAutoFit/>
          </a:bodyPr>
          <a:lstStyle/>
          <a:p>
            <a:pPr>
              <a:spcAft>
                <a:spcPts val="500"/>
              </a:spcAft>
              <a:defRPr sz="1600" b="1">
                <a:solidFill>
                  <a:srgbClr val="F5BE2B"/>
                </a:solidFill>
                <a:latin typeface="Aptos"/>
              </a:defRPr>
            </a:pPr>
            <a:r>
              <a:t>TRACKING FLOW</a:t>
            </a:r>
          </a:p>
        </p:txBody>
      </p:sp>
      <p:sp>
        <p:nvSpPr>
          <p:cNvPr id="9" name="TextBox 8"/>
          <p:cNvSpPr txBox="1"/>
          <p:nvPr/>
        </p:nvSpPr>
        <p:spPr>
          <a:xfrm>
            <a:off x="6355080" y="2057400"/>
            <a:ext cx="4663440" cy="3200400"/>
          </a:xfrm>
          <a:prstGeom prst="rect">
            <a:avLst/>
          </a:prstGeom>
          <a:noFill/>
        </p:spPr>
        <p:txBody>
          <a:bodyPr wrap="square" lIns="45720" tIns="36576" rIns="45720" bIns="27432">
            <a:spAutoFit/>
          </a:bodyPr>
          <a:lstStyle/>
          <a:p>
            <a:pPr>
              <a:spcAft>
                <a:spcPts val="500"/>
              </a:spcAft>
              <a:defRPr sz="1700" b="0">
                <a:solidFill>
                  <a:srgbClr val="F2F3F6"/>
                </a:solidFill>
                <a:latin typeface="Aptos"/>
              </a:defRPr>
            </a:pPr>
            <a:r>
              <a:t>• Order placed → Pending</a:t>
            </a:r>
          </a:p>
          <a:p>
            <a:pPr>
              <a:spcAft>
                <a:spcPts val="500"/>
              </a:spcAft>
              <a:defRPr sz="1700" b="0">
                <a:solidFill>
                  <a:srgbClr val="F2F3F6"/>
                </a:solidFill>
                <a:latin typeface="Aptos"/>
              </a:defRPr>
            </a:pPr>
            <a:endParaRPr/>
          </a:p>
          <a:p>
            <a:pPr>
              <a:spcAft>
                <a:spcPts val="500"/>
              </a:spcAft>
              <a:defRPr sz="1700" b="0">
                <a:solidFill>
                  <a:srgbClr val="F2F3F6"/>
                </a:solidFill>
                <a:latin typeface="Aptos"/>
              </a:defRPr>
            </a:pPr>
            <a:r>
              <a:t>• Route created and stops organized</a:t>
            </a:r>
          </a:p>
          <a:p>
            <a:pPr>
              <a:spcAft>
                <a:spcPts val="500"/>
              </a:spcAft>
              <a:defRPr sz="1700" b="0">
                <a:solidFill>
                  <a:srgbClr val="F2F3F6"/>
                </a:solidFill>
                <a:latin typeface="Aptos"/>
              </a:defRPr>
            </a:pPr>
            <a:endParaRPr/>
          </a:p>
          <a:p>
            <a:pPr>
              <a:spcAft>
                <a:spcPts val="500"/>
              </a:spcAft>
              <a:defRPr sz="1700" b="0">
                <a:solidFill>
                  <a:srgbClr val="F2F3F6"/>
                </a:solidFill>
                <a:latin typeface="Aptos"/>
              </a:defRPr>
            </a:pPr>
            <a:r>
              <a:t>• Courier scans package → In Transit</a:t>
            </a:r>
          </a:p>
          <a:p>
            <a:pPr>
              <a:spcAft>
                <a:spcPts val="500"/>
              </a:spcAft>
              <a:defRPr sz="1700" b="0">
                <a:solidFill>
                  <a:srgbClr val="F2F3F6"/>
                </a:solidFill>
                <a:latin typeface="Aptos"/>
              </a:defRPr>
            </a:pPr>
            <a:endParaRPr/>
          </a:p>
          <a:p>
            <a:pPr>
              <a:spcAft>
                <a:spcPts val="500"/>
              </a:spcAft>
              <a:defRPr sz="1700" b="0">
                <a:solidFill>
                  <a:srgbClr val="F2F3F6"/>
                </a:solidFill>
                <a:latin typeface="Aptos"/>
              </a:defRPr>
            </a:pPr>
            <a:r>
              <a:t>• Package reaches customer → Delivered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2151B"/>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9436"/>
          </a:xfrm>
          <a:prstGeom prst="rect">
            <a:avLst/>
          </a:prstGeom>
          <a:solidFill>
            <a:srgbClr val="F5BE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21792" y="384048"/>
            <a:ext cx="10972800" cy="566928"/>
          </a:xfrm>
          <a:prstGeom prst="rect">
            <a:avLst/>
          </a:prstGeom>
          <a:noFill/>
        </p:spPr>
        <p:txBody>
          <a:bodyPr wrap="square" lIns="45720" tIns="36576" rIns="45720" bIns="27432">
            <a:spAutoFit/>
          </a:bodyPr>
          <a:lstStyle/>
          <a:p>
            <a:pPr>
              <a:spcAft>
                <a:spcPts val="500"/>
              </a:spcAft>
              <a:defRPr sz="2700" b="1">
                <a:solidFill>
                  <a:srgbClr val="F5BE2B"/>
                </a:solidFill>
                <a:latin typeface="Aptos"/>
              </a:defRPr>
            </a:pPr>
            <a:r>
              <a:t>Java Course Roadmap • CO1–CO3</a:t>
            </a:r>
          </a:p>
        </p:txBody>
      </p:sp>
      <p:sp>
        <p:nvSpPr>
          <p:cNvPr id="4" name="TextBox 3"/>
          <p:cNvSpPr txBox="1"/>
          <p:nvPr/>
        </p:nvSpPr>
        <p:spPr>
          <a:xfrm>
            <a:off x="658368" y="987552"/>
            <a:ext cx="10789920" cy="310896"/>
          </a:xfrm>
          <a:prstGeom prst="rect">
            <a:avLst/>
          </a:prstGeom>
          <a:noFill/>
        </p:spPr>
        <p:txBody>
          <a:bodyPr wrap="square" lIns="45720" tIns="36576" rIns="45720" bIns="27432">
            <a:spAutoFit/>
          </a:bodyPr>
          <a:lstStyle/>
          <a:p>
            <a:pPr>
              <a:spcAft>
                <a:spcPts val="500"/>
              </a:spcAft>
              <a:defRPr sz="1200" b="0">
                <a:solidFill>
                  <a:srgbClr val="B1B6C0"/>
                </a:solidFill>
                <a:latin typeface="Aptos"/>
              </a:defRPr>
            </a:pPr>
            <a:r>
              <a:t>From problem solving to modular Java programs</a:t>
            </a:r>
          </a:p>
        </p:txBody>
      </p:sp>
      <p:sp>
        <p:nvSpPr>
          <p:cNvPr id="5" name="TextBox 4"/>
          <p:cNvSpPr txBox="1"/>
          <p:nvPr/>
        </p:nvSpPr>
        <p:spPr>
          <a:xfrm>
            <a:off x="640080" y="6537960"/>
            <a:ext cx="10789920" cy="182880"/>
          </a:xfrm>
          <a:prstGeom prst="rect">
            <a:avLst/>
          </a:prstGeom>
          <a:noFill/>
        </p:spPr>
        <p:txBody>
          <a:bodyPr wrap="square" lIns="45720" tIns="36576" rIns="45720" bIns="27432">
            <a:spAutoFit/>
          </a:bodyPr>
          <a:lstStyle/>
          <a:p>
            <a:pPr>
              <a:spcAft>
                <a:spcPts val="500"/>
              </a:spcAft>
              <a:defRPr sz="800" b="0">
                <a:solidFill>
                  <a:srgbClr val="B1B6C0"/>
                </a:solidFill>
                <a:latin typeface="Aptos"/>
              </a:defRPr>
            </a:pPr>
            <a:r>
              <a:t>Courier Delivery Route &amp; Tracking System  •  7</a:t>
            </a:r>
          </a:p>
        </p:txBody>
      </p:sp>
      <p:sp>
        <p:nvSpPr>
          <p:cNvPr id="6" name="Rounded Rectangle 5"/>
          <p:cNvSpPr/>
          <p:nvPr/>
        </p:nvSpPr>
        <p:spPr>
          <a:xfrm>
            <a:off x="685800" y="1508760"/>
            <a:ext cx="3611880" cy="4526280"/>
          </a:xfrm>
          <a:prstGeom prst="roundRect">
            <a:avLst/>
          </a:prstGeom>
          <a:solidFill>
            <a:srgbClr val="1D1E22"/>
          </a:solidFill>
          <a:ln>
            <a:solidFill>
              <a:srgbClr val="6A5B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85800" y="1508760"/>
            <a:ext cx="73152" cy="4526280"/>
          </a:xfrm>
          <a:prstGeom prst="rect">
            <a:avLst/>
          </a:prstGeom>
          <a:solidFill>
            <a:srgbClr val="F5BE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86968" y="1764792"/>
            <a:ext cx="3246120" cy="274320"/>
          </a:xfrm>
          <a:prstGeom prst="rect">
            <a:avLst/>
          </a:prstGeom>
          <a:noFill/>
        </p:spPr>
        <p:txBody>
          <a:bodyPr wrap="square" lIns="45720" tIns="36576" rIns="45720" bIns="27432">
            <a:spAutoFit/>
          </a:bodyPr>
          <a:lstStyle/>
          <a:p>
            <a:pPr>
              <a:spcAft>
                <a:spcPts val="500"/>
              </a:spcAft>
              <a:defRPr sz="1300" b="1">
                <a:solidFill>
                  <a:srgbClr val="F5BE2B"/>
                </a:solidFill>
                <a:latin typeface="Aptos"/>
              </a:defRPr>
            </a:pPr>
            <a:r>
              <a:t>MODULE 1</a:t>
            </a:r>
          </a:p>
        </p:txBody>
      </p:sp>
      <p:sp>
        <p:nvSpPr>
          <p:cNvPr id="9" name="TextBox 8"/>
          <p:cNvSpPr txBox="1"/>
          <p:nvPr/>
        </p:nvSpPr>
        <p:spPr>
          <a:xfrm>
            <a:off x="886968" y="2167128"/>
            <a:ext cx="3246120" cy="502920"/>
          </a:xfrm>
          <a:prstGeom prst="rect">
            <a:avLst/>
          </a:prstGeom>
          <a:noFill/>
        </p:spPr>
        <p:txBody>
          <a:bodyPr wrap="square" lIns="45720" tIns="36576" rIns="45720" bIns="27432">
            <a:spAutoFit/>
          </a:bodyPr>
          <a:lstStyle/>
          <a:p>
            <a:pPr>
              <a:spcAft>
                <a:spcPts val="500"/>
              </a:spcAft>
              <a:defRPr sz="1400" b="1">
                <a:solidFill>
                  <a:srgbClr val="F2F3F6"/>
                </a:solidFill>
                <a:latin typeface="Aptos"/>
              </a:defRPr>
            </a:pPr>
            <a:r>
              <a:t>JAVA FOUNDATIONS</a:t>
            </a:r>
          </a:p>
        </p:txBody>
      </p:sp>
      <p:sp>
        <p:nvSpPr>
          <p:cNvPr id="10" name="TextBox 9"/>
          <p:cNvSpPr txBox="1"/>
          <p:nvPr/>
        </p:nvSpPr>
        <p:spPr>
          <a:xfrm>
            <a:off x="886968" y="2834639"/>
            <a:ext cx="3227832" cy="3017520"/>
          </a:xfrm>
          <a:prstGeom prst="rect">
            <a:avLst/>
          </a:prstGeom>
          <a:noFill/>
        </p:spPr>
        <p:txBody>
          <a:bodyPr wrap="square" lIns="45720" tIns="36576" rIns="45720" bIns="27432">
            <a:spAutoFit/>
          </a:bodyPr>
          <a:lstStyle/>
          <a:p>
            <a:pPr>
              <a:spcAft>
                <a:spcPts val="500"/>
              </a:spcAft>
              <a:defRPr sz="1200" b="0">
                <a:solidFill>
                  <a:srgbClr val="F2F3F6"/>
                </a:solidFill>
                <a:latin typeface="Aptos"/>
              </a:defRPr>
            </a:pPr>
            <a:r>
              <a:t>Problem-solving, algorithms and flowcharts.</a:t>
            </a:r>
          </a:p>
          <a:p>
            <a:pPr>
              <a:spcAft>
                <a:spcPts val="500"/>
              </a:spcAft>
              <a:defRPr sz="1200" b="0">
                <a:solidFill>
                  <a:srgbClr val="F2F3F6"/>
                </a:solidFill>
                <a:latin typeface="Aptos"/>
              </a:defRPr>
            </a:pPr>
            <a:endParaRPr/>
          </a:p>
          <a:p>
            <a:pPr>
              <a:spcAft>
                <a:spcPts val="500"/>
              </a:spcAft>
              <a:defRPr sz="1200" b="0">
                <a:solidFill>
                  <a:srgbClr val="F2F3F6"/>
                </a:solidFill>
                <a:latin typeface="Aptos"/>
              </a:defRPr>
            </a:pPr>
            <a:r>
              <a:t>Java environment and program structure.</a:t>
            </a:r>
          </a:p>
          <a:p>
            <a:pPr>
              <a:spcAft>
                <a:spcPts val="500"/>
              </a:spcAft>
              <a:defRPr sz="1200" b="0">
                <a:solidFill>
                  <a:srgbClr val="F2F3F6"/>
                </a:solidFill>
                <a:latin typeface="Aptos"/>
              </a:defRPr>
            </a:pPr>
            <a:endParaRPr/>
          </a:p>
          <a:p>
            <a:pPr>
              <a:spcAft>
                <a:spcPts val="500"/>
              </a:spcAft>
              <a:defRPr sz="1200" b="0">
                <a:solidFill>
                  <a:srgbClr val="F2F3F6"/>
                </a:solidFill>
                <a:latin typeface="Aptos"/>
              </a:defRPr>
            </a:pPr>
            <a:r>
              <a:t>Primitive types, variables, constants, identifiers and literals.</a:t>
            </a:r>
          </a:p>
          <a:p>
            <a:pPr>
              <a:spcAft>
                <a:spcPts val="500"/>
              </a:spcAft>
              <a:defRPr sz="1200" b="0">
                <a:solidFill>
                  <a:srgbClr val="F2F3F6"/>
                </a:solidFill>
                <a:latin typeface="Aptos"/>
              </a:defRPr>
            </a:pPr>
            <a:endParaRPr/>
          </a:p>
          <a:p>
            <a:pPr>
              <a:spcAft>
                <a:spcPts val="500"/>
              </a:spcAft>
              <a:defRPr sz="1200" b="0">
                <a:solidFill>
                  <a:srgbClr val="F2F3F6"/>
                </a:solidFill>
                <a:latin typeface="Aptos"/>
              </a:defRPr>
            </a:pPr>
            <a:r>
              <a:t>Operators, type casting, precedence and associativity.</a:t>
            </a:r>
          </a:p>
          <a:p>
            <a:pPr>
              <a:spcAft>
                <a:spcPts val="500"/>
              </a:spcAft>
              <a:defRPr sz="1200" b="0">
                <a:solidFill>
                  <a:srgbClr val="F2F3F6"/>
                </a:solidFill>
                <a:latin typeface="Aptos"/>
              </a:defRPr>
            </a:pPr>
            <a:endParaRPr/>
          </a:p>
          <a:p>
            <a:pPr>
              <a:spcAft>
                <a:spcPts val="500"/>
              </a:spcAft>
              <a:defRPr sz="1200" b="0">
                <a:solidFill>
                  <a:srgbClr val="F2F3F6"/>
                </a:solidFill>
                <a:latin typeface="Aptos"/>
              </a:defRPr>
            </a:pPr>
            <a:r>
              <a:t>Formatted output and Scanner input.</a:t>
            </a:r>
          </a:p>
        </p:txBody>
      </p:sp>
      <p:sp>
        <p:nvSpPr>
          <p:cNvPr id="11" name="Rounded Rectangle 10"/>
          <p:cNvSpPr/>
          <p:nvPr/>
        </p:nvSpPr>
        <p:spPr>
          <a:xfrm>
            <a:off x="4498848" y="1508760"/>
            <a:ext cx="3611880" cy="4526280"/>
          </a:xfrm>
          <a:prstGeom prst="roundRect">
            <a:avLst/>
          </a:prstGeom>
          <a:solidFill>
            <a:srgbClr val="1D1E22"/>
          </a:solidFill>
          <a:ln>
            <a:solidFill>
              <a:srgbClr val="6A5B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498848" y="1508760"/>
            <a:ext cx="73152" cy="4526280"/>
          </a:xfrm>
          <a:prstGeom prst="rect">
            <a:avLst/>
          </a:prstGeom>
          <a:solidFill>
            <a:srgbClr val="F5BE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700016" y="1764792"/>
            <a:ext cx="3246120" cy="274320"/>
          </a:xfrm>
          <a:prstGeom prst="rect">
            <a:avLst/>
          </a:prstGeom>
          <a:noFill/>
        </p:spPr>
        <p:txBody>
          <a:bodyPr wrap="square" lIns="45720" tIns="36576" rIns="45720" bIns="27432">
            <a:spAutoFit/>
          </a:bodyPr>
          <a:lstStyle/>
          <a:p>
            <a:pPr>
              <a:spcAft>
                <a:spcPts val="500"/>
              </a:spcAft>
              <a:defRPr sz="1300" b="1">
                <a:solidFill>
                  <a:srgbClr val="F5BE2B"/>
                </a:solidFill>
                <a:latin typeface="Aptos"/>
              </a:defRPr>
            </a:pPr>
            <a:r>
              <a:t>MODULE 2</a:t>
            </a:r>
          </a:p>
        </p:txBody>
      </p:sp>
      <p:sp>
        <p:nvSpPr>
          <p:cNvPr id="14" name="TextBox 13"/>
          <p:cNvSpPr txBox="1"/>
          <p:nvPr/>
        </p:nvSpPr>
        <p:spPr>
          <a:xfrm>
            <a:off x="4700016" y="2167128"/>
            <a:ext cx="3246120" cy="502920"/>
          </a:xfrm>
          <a:prstGeom prst="rect">
            <a:avLst/>
          </a:prstGeom>
          <a:noFill/>
        </p:spPr>
        <p:txBody>
          <a:bodyPr wrap="square" lIns="45720" tIns="36576" rIns="45720" bIns="27432">
            <a:spAutoFit/>
          </a:bodyPr>
          <a:lstStyle/>
          <a:p>
            <a:pPr>
              <a:spcAft>
                <a:spcPts val="500"/>
              </a:spcAft>
              <a:defRPr sz="1400" b="1">
                <a:solidFill>
                  <a:srgbClr val="F2F3F6"/>
                </a:solidFill>
                <a:latin typeface="Aptos"/>
              </a:defRPr>
            </a:pPr>
            <a:r>
              <a:t>CONTROL FLOW</a:t>
            </a:r>
          </a:p>
        </p:txBody>
      </p:sp>
      <p:sp>
        <p:nvSpPr>
          <p:cNvPr id="15" name="TextBox 14"/>
          <p:cNvSpPr txBox="1"/>
          <p:nvPr/>
        </p:nvSpPr>
        <p:spPr>
          <a:xfrm>
            <a:off x="4700016" y="2834639"/>
            <a:ext cx="3227832" cy="3017520"/>
          </a:xfrm>
          <a:prstGeom prst="rect">
            <a:avLst/>
          </a:prstGeom>
          <a:noFill/>
        </p:spPr>
        <p:txBody>
          <a:bodyPr wrap="square" lIns="45720" tIns="36576" rIns="45720" bIns="27432">
            <a:spAutoFit/>
          </a:bodyPr>
          <a:lstStyle/>
          <a:p>
            <a:pPr>
              <a:spcAft>
                <a:spcPts val="500"/>
              </a:spcAft>
              <a:defRPr sz="1200" b="0">
                <a:solidFill>
                  <a:srgbClr val="F2F3F6"/>
                </a:solidFill>
                <a:latin typeface="Aptos"/>
              </a:defRPr>
            </a:pPr>
            <a:r>
              <a:t>if, if-else, nested if and else-if ladder.</a:t>
            </a:r>
          </a:p>
          <a:p>
            <a:pPr>
              <a:spcAft>
                <a:spcPts val="500"/>
              </a:spcAft>
              <a:defRPr sz="1200" b="0">
                <a:solidFill>
                  <a:srgbClr val="F2F3F6"/>
                </a:solidFill>
                <a:latin typeface="Aptos"/>
              </a:defRPr>
            </a:pPr>
            <a:endParaRPr/>
          </a:p>
          <a:p>
            <a:pPr>
              <a:spcAft>
                <a:spcPts val="500"/>
              </a:spcAft>
              <a:defRPr sz="1200" b="0">
                <a:solidFill>
                  <a:srgbClr val="F2F3F6"/>
                </a:solidFill>
                <a:latin typeface="Aptos"/>
              </a:defRPr>
            </a:pPr>
            <a:r>
              <a:t>switch, default and break.</a:t>
            </a:r>
          </a:p>
          <a:p>
            <a:pPr>
              <a:spcAft>
                <a:spcPts val="500"/>
              </a:spcAft>
              <a:defRPr sz="1200" b="0">
                <a:solidFill>
                  <a:srgbClr val="F2F3F6"/>
                </a:solidFill>
                <a:latin typeface="Aptos"/>
              </a:defRPr>
            </a:pPr>
            <a:endParaRPr/>
          </a:p>
          <a:p>
            <a:pPr>
              <a:spcAft>
                <a:spcPts val="500"/>
              </a:spcAft>
              <a:defRPr sz="1200" b="0">
                <a:solidFill>
                  <a:srgbClr val="F2F3F6"/>
                </a:solidFill>
                <a:latin typeface="Aptos"/>
              </a:defRPr>
            </a:pPr>
            <a:r>
              <a:t>while, do-while and for loops.</a:t>
            </a:r>
          </a:p>
          <a:p>
            <a:pPr>
              <a:spcAft>
                <a:spcPts val="500"/>
              </a:spcAft>
              <a:defRPr sz="1200" b="0">
                <a:solidFill>
                  <a:srgbClr val="F2F3F6"/>
                </a:solidFill>
                <a:latin typeface="Aptos"/>
              </a:defRPr>
            </a:pPr>
            <a:endParaRPr/>
          </a:p>
          <a:p>
            <a:pPr>
              <a:spcAft>
                <a:spcPts val="500"/>
              </a:spcAft>
              <a:defRPr sz="1200" b="0">
                <a:solidFill>
                  <a:srgbClr val="F2F3F6"/>
                </a:solidFill>
                <a:latin typeface="Aptos"/>
              </a:defRPr>
            </a:pPr>
            <a:r>
              <a:t>continue, nested loops and compound statements.</a:t>
            </a:r>
          </a:p>
          <a:p>
            <a:pPr>
              <a:spcAft>
                <a:spcPts val="500"/>
              </a:spcAft>
              <a:defRPr sz="1200" b="0">
                <a:solidFill>
                  <a:srgbClr val="F2F3F6"/>
                </a:solidFill>
                <a:latin typeface="Aptos"/>
              </a:defRPr>
            </a:pPr>
            <a:endParaRPr/>
          </a:p>
          <a:p>
            <a:pPr>
              <a:spcAft>
                <a:spcPts val="500"/>
              </a:spcAft>
              <a:defRPr sz="1200" b="0">
                <a:solidFill>
                  <a:srgbClr val="F2F3F6"/>
                </a:solidFill>
                <a:latin typeface="Aptos"/>
              </a:defRPr>
            </a:pPr>
            <a:r>
              <a:t>Infinite-loop awareness.</a:t>
            </a:r>
          </a:p>
        </p:txBody>
      </p:sp>
      <p:sp>
        <p:nvSpPr>
          <p:cNvPr id="16" name="Rounded Rectangle 15"/>
          <p:cNvSpPr/>
          <p:nvPr/>
        </p:nvSpPr>
        <p:spPr>
          <a:xfrm>
            <a:off x="8311896" y="1508760"/>
            <a:ext cx="3200400" cy="4526280"/>
          </a:xfrm>
          <a:prstGeom prst="roundRect">
            <a:avLst/>
          </a:prstGeom>
          <a:solidFill>
            <a:srgbClr val="1D1E22"/>
          </a:solidFill>
          <a:ln>
            <a:solidFill>
              <a:srgbClr val="6A5B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311896" y="1508760"/>
            <a:ext cx="73152" cy="4526280"/>
          </a:xfrm>
          <a:prstGeom prst="rect">
            <a:avLst/>
          </a:prstGeom>
          <a:solidFill>
            <a:srgbClr val="F5BE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513064" y="1764792"/>
            <a:ext cx="2834640" cy="274320"/>
          </a:xfrm>
          <a:prstGeom prst="rect">
            <a:avLst/>
          </a:prstGeom>
          <a:noFill/>
        </p:spPr>
        <p:txBody>
          <a:bodyPr wrap="square" lIns="45720" tIns="36576" rIns="45720" bIns="27432">
            <a:spAutoFit/>
          </a:bodyPr>
          <a:lstStyle/>
          <a:p>
            <a:pPr>
              <a:spcAft>
                <a:spcPts val="500"/>
              </a:spcAft>
              <a:defRPr sz="1300" b="1">
                <a:solidFill>
                  <a:srgbClr val="F5BE2B"/>
                </a:solidFill>
                <a:latin typeface="Aptos"/>
              </a:defRPr>
            </a:pPr>
            <a:r>
              <a:t>MODULE 3</a:t>
            </a:r>
          </a:p>
        </p:txBody>
      </p:sp>
      <p:sp>
        <p:nvSpPr>
          <p:cNvPr id="19" name="TextBox 18"/>
          <p:cNvSpPr txBox="1"/>
          <p:nvPr/>
        </p:nvSpPr>
        <p:spPr>
          <a:xfrm>
            <a:off x="8513064" y="2167128"/>
            <a:ext cx="2834640" cy="502920"/>
          </a:xfrm>
          <a:prstGeom prst="rect">
            <a:avLst/>
          </a:prstGeom>
          <a:noFill/>
        </p:spPr>
        <p:txBody>
          <a:bodyPr wrap="square" lIns="45720" tIns="36576" rIns="45720" bIns="27432">
            <a:spAutoFit/>
          </a:bodyPr>
          <a:lstStyle/>
          <a:p>
            <a:pPr>
              <a:spcAft>
                <a:spcPts val="500"/>
              </a:spcAft>
              <a:defRPr sz="1400" b="1">
                <a:solidFill>
                  <a:srgbClr val="F2F3F6"/>
                </a:solidFill>
                <a:latin typeface="Aptos"/>
              </a:defRPr>
            </a:pPr>
            <a:r>
              <a:t>METHODS, RECURSION &amp; ARRAYS</a:t>
            </a:r>
          </a:p>
        </p:txBody>
      </p:sp>
      <p:sp>
        <p:nvSpPr>
          <p:cNvPr id="20" name="TextBox 19"/>
          <p:cNvSpPr txBox="1"/>
          <p:nvPr/>
        </p:nvSpPr>
        <p:spPr>
          <a:xfrm>
            <a:off x="8513064" y="2834639"/>
            <a:ext cx="2816352" cy="3017520"/>
          </a:xfrm>
          <a:prstGeom prst="rect">
            <a:avLst/>
          </a:prstGeom>
          <a:noFill/>
        </p:spPr>
        <p:txBody>
          <a:bodyPr wrap="square" lIns="45720" tIns="36576" rIns="45720" bIns="27432">
            <a:spAutoFit/>
          </a:bodyPr>
          <a:lstStyle/>
          <a:p>
            <a:pPr>
              <a:spcAft>
                <a:spcPts val="500"/>
              </a:spcAft>
              <a:defRPr sz="1200" b="0">
                <a:solidFill>
                  <a:srgbClr val="F2F3F6"/>
                </a:solidFill>
                <a:latin typeface="Aptos"/>
              </a:defRPr>
            </a:pPr>
            <a:r>
              <a:t>Modular programming and methods.</a:t>
            </a:r>
          </a:p>
          <a:p>
            <a:pPr>
              <a:spcAft>
                <a:spcPts val="500"/>
              </a:spcAft>
              <a:defRPr sz="1200" b="0">
                <a:solidFill>
                  <a:srgbClr val="F2F3F6"/>
                </a:solidFill>
                <a:latin typeface="Aptos"/>
              </a:defRPr>
            </a:pPr>
            <a:endParaRPr/>
          </a:p>
          <a:p>
            <a:pPr>
              <a:spcAft>
                <a:spcPts val="500"/>
              </a:spcAft>
              <a:defRPr sz="1200" b="0">
                <a:solidFill>
                  <a:srgbClr val="F2F3F6"/>
                </a:solidFill>
                <a:latin typeface="Aptos"/>
              </a:defRPr>
            </a:pPr>
            <a:r>
              <a:t>Parameters, return values and method overloading.</a:t>
            </a:r>
          </a:p>
          <a:p>
            <a:pPr>
              <a:spcAft>
                <a:spcPts val="500"/>
              </a:spcAft>
              <a:defRPr sz="1200" b="0">
                <a:solidFill>
                  <a:srgbClr val="F2F3F6"/>
                </a:solidFill>
                <a:latin typeface="Aptos"/>
              </a:defRPr>
            </a:pPr>
            <a:endParaRPr/>
          </a:p>
          <a:p>
            <a:pPr>
              <a:spcAft>
                <a:spcPts val="500"/>
              </a:spcAft>
              <a:defRPr sz="1200" b="0">
                <a:solidFill>
                  <a:srgbClr val="F2F3F6"/>
                </a:solidFill>
                <a:latin typeface="Aptos"/>
              </a:defRPr>
            </a:pPr>
            <a:r>
              <a:t>Recursion: base and recursive cases.</a:t>
            </a:r>
          </a:p>
          <a:p>
            <a:pPr>
              <a:spcAft>
                <a:spcPts val="500"/>
              </a:spcAft>
              <a:defRPr sz="1200" b="0">
                <a:solidFill>
                  <a:srgbClr val="F2F3F6"/>
                </a:solidFill>
                <a:latin typeface="Aptos"/>
              </a:defRPr>
            </a:pPr>
            <a:endParaRPr/>
          </a:p>
          <a:p>
            <a:pPr>
              <a:spcAft>
                <a:spcPts val="500"/>
              </a:spcAft>
              <a:defRPr sz="1200" b="0">
                <a:solidFill>
                  <a:srgbClr val="F2F3F6"/>
                </a:solidFill>
                <a:latin typeface="Aptos"/>
              </a:defRPr>
            </a:pPr>
            <a:r>
              <a:t>Enhanced for loop.</a:t>
            </a:r>
          </a:p>
          <a:p>
            <a:pPr>
              <a:spcAft>
                <a:spcPts val="500"/>
              </a:spcAft>
              <a:defRPr sz="1200" b="0">
                <a:solidFill>
                  <a:srgbClr val="F2F3F6"/>
                </a:solidFill>
                <a:latin typeface="Aptos"/>
              </a:defRPr>
            </a:pPr>
            <a:endParaRPr/>
          </a:p>
          <a:p>
            <a:pPr>
              <a:spcAft>
                <a:spcPts val="500"/>
              </a:spcAft>
              <a:defRPr sz="1200" b="0">
                <a:solidFill>
                  <a:srgbClr val="F2F3F6"/>
                </a:solidFill>
                <a:latin typeface="Aptos"/>
              </a:defRPr>
            </a:pPr>
            <a:r>
              <a:t>1D/2D arrays, traversal, searching, sums, averages, counting and matrix arithmetic.</a:t>
            </a:r>
          </a:p>
        </p:txBody>
      </p:sp>
      <p:sp>
        <p:nvSpPr>
          <p:cNvPr id="21" name="Rounded Rectangle 20"/>
          <p:cNvSpPr/>
          <p:nvPr/>
        </p:nvSpPr>
        <p:spPr>
          <a:xfrm>
            <a:off x="685800" y="6199632"/>
            <a:ext cx="10835640" cy="256032"/>
          </a:xfrm>
          <a:prstGeom prst="roundRect">
            <a:avLst/>
          </a:prstGeom>
          <a:solidFill>
            <a:srgbClr val="4A3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68680" y="6199632"/>
            <a:ext cx="10424160" cy="219456"/>
          </a:xfrm>
          <a:prstGeom prst="rect">
            <a:avLst/>
          </a:prstGeom>
          <a:noFill/>
        </p:spPr>
        <p:txBody>
          <a:bodyPr wrap="square" lIns="45720" tIns="36576" rIns="45720" bIns="27432">
            <a:spAutoFit/>
          </a:bodyPr>
          <a:lstStyle/>
          <a:p>
            <a:pPr>
              <a:spcAft>
                <a:spcPts val="500"/>
              </a:spcAft>
              <a:defRPr sz="1000" b="1">
                <a:solidFill>
                  <a:srgbClr val="F2F3F6"/>
                </a:solidFill>
                <a:latin typeface="Aptos"/>
              </a:defRPr>
            </a:pPr>
            <a:r>
              <a:t>PROJECT LINK: Arrays store package details; conditions and methods manage delivery operations.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2151B"/>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9436"/>
          </a:xfrm>
          <a:prstGeom prst="rect">
            <a:avLst/>
          </a:prstGeom>
          <a:solidFill>
            <a:srgbClr val="F5BE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21792" y="384048"/>
            <a:ext cx="10972800" cy="566928"/>
          </a:xfrm>
          <a:prstGeom prst="rect">
            <a:avLst/>
          </a:prstGeom>
          <a:noFill/>
        </p:spPr>
        <p:txBody>
          <a:bodyPr wrap="square" lIns="45720" tIns="36576" rIns="45720" bIns="27432">
            <a:spAutoFit/>
          </a:bodyPr>
          <a:lstStyle/>
          <a:p>
            <a:pPr>
              <a:spcAft>
                <a:spcPts val="500"/>
              </a:spcAft>
              <a:defRPr sz="2700" b="1">
                <a:solidFill>
                  <a:srgbClr val="F5BE2B"/>
                </a:solidFill>
                <a:latin typeface="Aptos"/>
              </a:defRPr>
            </a:pPr>
            <a:r>
              <a:t>Java Course Roadmap • CO4–CO6</a:t>
            </a:r>
          </a:p>
        </p:txBody>
      </p:sp>
      <p:sp>
        <p:nvSpPr>
          <p:cNvPr id="4" name="TextBox 3"/>
          <p:cNvSpPr txBox="1"/>
          <p:nvPr/>
        </p:nvSpPr>
        <p:spPr>
          <a:xfrm>
            <a:off x="658368" y="987552"/>
            <a:ext cx="10789920" cy="310896"/>
          </a:xfrm>
          <a:prstGeom prst="rect">
            <a:avLst/>
          </a:prstGeom>
          <a:noFill/>
        </p:spPr>
        <p:txBody>
          <a:bodyPr wrap="square" lIns="45720" tIns="36576" rIns="45720" bIns="27432">
            <a:spAutoFit/>
          </a:bodyPr>
          <a:lstStyle/>
          <a:p>
            <a:pPr>
              <a:spcAft>
                <a:spcPts val="500"/>
              </a:spcAft>
              <a:defRPr sz="1200" b="0">
                <a:solidFill>
                  <a:srgbClr val="B1B6C0"/>
                </a:solidFill>
                <a:latin typeface="Aptos"/>
              </a:defRPr>
            </a:pPr>
            <a:r>
              <a:t>From object-oriented design to file handling, collections and functional Java</a:t>
            </a:r>
          </a:p>
        </p:txBody>
      </p:sp>
      <p:sp>
        <p:nvSpPr>
          <p:cNvPr id="5" name="TextBox 4"/>
          <p:cNvSpPr txBox="1"/>
          <p:nvPr/>
        </p:nvSpPr>
        <p:spPr>
          <a:xfrm>
            <a:off x="640080" y="6537960"/>
            <a:ext cx="10789920" cy="182880"/>
          </a:xfrm>
          <a:prstGeom prst="rect">
            <a:avLst/>
          </a:prstGeom>
          <a:noFill/>
        </p:spPr>
        <p:txBody>
          <a:bodyPr wrap="square" lIns="45720" tIns="36576" rIns="45720" bIns="27432">
            <a:spAutoFit/>
          </a:bodyPr>
          <a:lstStyle/>
          <a:p>
            <a:pPr>
              <a:spcAft>
                <a:spcPts val="500"/>
              </a:spcAft>
              <a:defRPr sz="800" b="0">
                <a:solidFill>
                  <a:srgbClr val="B1B6C0"/>
                </a:solidFill>
                <a:latin typeface="Aptos"/>
              </a:defRPr>
            </a:pPr>
            <a:r>
              <a:t>Courier Delivery Route &amp; Tracking System  •  8</a:t>
            </a:r>
          </a:p>
        </p:txBody>
      </p:sp>
      <p:sp>
        <p:nvSpPr>
          <p:cNvPr id="6" name="Rounded Rectangle 5"/>
          <p:cNvSpPr/>
          <p:nvPr/>
        </p:nvSpPr>
        <p:spPr>
          <a:xfrm>
            <a:off x="685800" y="1508760"/>
            <a:ext cx="3611880" cy="4526280"/>
          </a:xfrm>
          <a:prstGeom prst="roundRect">
            <a:avLst/>
          </a:prstGeom>
          <a:solidFill>
            <a:srgbClr val="1D1E22"/>
          </a:solidFill>
          <a:ln>
            <a:solidFill>
              <a:srgbClr val="6A5B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85800" y="1508760"/>
            <a:ext cx="73152" cy="4526280"/>
          </a:xfrm>
          <a:prstGeom prst="rect">
            <a:avLst/>
          </a:prstGeom>
          <a:solidFill>
            <a:srgbClr val="F5BE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86968" y="1764792"/>
            <a:ext cx="3246120" cy="274320"/>
          </a:xfrm>
          <a:prstGeom prst="rect">
            <a:avLst/>
          </a:prstGeom>
          <a:noFill/>
        </p:spPr>
        <p:txBody>
          <a:bodyPr wrap="square" lIns="45720" tIns="36576" rIns="45720" bIns="27432">
            <a:spAutoFit/>
          </a:bodyPr>
          <a:lstStyle/>
          <a:p>
            <a:pPr>
              <a:spcAft>
                <a:spcPts val="500"/>
              </a:spcAft>
              <a:defRPr sz="1300" b="1">
                <a:solidFill>
                  <a:srgbClr val="F5BE2B"/>
                </a:solidFill>
                <a:latin typeface="Aptos"/>
              </a:defRPr>
            </a:pPr>
            <a:r>
              <a:t>MODULE 4</a:t>
            </a:r>
          </a:p>
        </p:txBody>
      </p:sp>
      <p:sp>
        <p:nvSpPr>
          <p:cNvPr id="9" name="TextBox 8"/>
          <p:cNvSpPr txBox="1"/>
          <p:nvPr/>
        </p:nvSpPr>
        <p:spPr>
          <a:xfrm>
            <a:off x="886968" y="2167128"/>
            <a:ext cx="3246120" cy="749808"/>
          </a:xfrm>
          <a:prstGeom prst="rect">
            <a:avLst/>
          </a:prstGeom>
          <a:noFill/>
        </p:spPr>
        <p:txBody>
          <a:bodyPr wrap="square" lIns="45720" tIns="36576" rIns="45720" bIns="27432">
            <a:spAutoFit/>
          </a:bodyPr>
          <a:lstStyle/>
          <a:p>
            <a:pPr>
              <a:spcAft>
                <a:spcPts val="500"/>
              </a:spcAft>
              <a:defRPr sz="1200" b="1">
                <a:solidFill>
                  <a:srgbClr val="F2F3F6"/>
                </a:solidFill>
                <a:latin typeface="Aptos"/>
              </a:defRPr>
            </a:pPr>
            <a:r>
              <a:t>OBJECT-ORIENTED MODELLING &amp; EXCEPTION HANDLING</a:t>
            </a:r>
          </a:p>
        </p:txBody>
      </p:sp>
      <p:sp>
        <p:nvSpPr>
          <p:cNvPr id="10" name="TextBox 9"/>
          <p:cNvSpPr txBox="1"/>
          <p:nvPr/>
        </p:nvSpPr>
        <p:spPr>
          <a:xfrm>
            <a:off x="886968" y="3017520"/>
            <a:ext cx="3227832" cy="2834640"/>
          </a:xfrm>
          <a:prstGeom prst="rect">
            <a:avLst/>
          </a:prstGeom>
          <a:noFill/>
        </p:spPr>
        <p:txBody>
          <a:bodyPr wrap="square" lIns="45720" tIns="36576" rIns="45720" bIns="27432">
            <a:spAutoFit/>
          </a:bodyPr>
          <a:lstStyle/>
          <a:p>
            <a:pPr>
              <a:spcAft>
                <a:spcPts val="500"/>
              </a:spcAft>
              <a:defRPr sz="1100" b="0">
                <a:solidFill>
                  <a:srgbClr val="F2F3F6"/>
                </a:solidFill>
                <a:latin typeface="Aptos"/>
              </a:defRPr>
            </a:pPr>
            <a:r>
              <a:t>Classes and objects: fields, methods, new, references and null.</a:t>
            </a:r>
          </a:p>
          <a:p>
            <a:pPr>
              <a:spcAft>
                <a:spcPts val="500"/>
              </a:spcAft>
              <a:defRPr sz="1100" b="0">
                <a:solidFill>
                  <a:srgbClr val="F2F3F6"/>
                </a:solidFill>
                <a:latin typeface="Aptos"/>
              </a:defRPr>
            </a:pPr>
            <a:endParaRPr/>
          </a:p>
          <a:p>
            <a:pPr>
              <a:spcAft>
                <a:spcPts val="500"/>
              </a:spcAft>
              <a:defRPr sz="1100" b="0">
                <a:solidFill>
                  <a:srgbClr val="F2F3F6"/>
                </a:solidFill>
                <a:latin typeface="Aptos"/>
              </a:defRPr>
            </a:pPr>
            <a:r>
              <a:t>Constructors: default, parameterized, overloading and this.</a:t>
            </a:r>
          </a:p>
          <a:p>
            <a:pPr>
              <a:spcAft>
                <a:spcPts val="500"/>
              </a:spcAft>
              <a:defRPr sz="1100" b="0">
                <a:solidFill>
                  <a:srgbClr val="F2F3F6"/>
                </a:solidFill>
                <a:latin typeface="Aptos"/>
              </a:defRPr>
            </a:pPr>
            <a:endParaRPr/>
          </a:p>
          <a:p>
            <a:pPr>
              <a:spcAft>
                <a:spcPts val="500"/>
              </a:spcAft>
              <a:defRPr sz="1100" b="0">
                <a:solidFill>
                  <a:srgbClr val="F2F3F6"/>
                </a:solidFill>
                <a:latin typeface="Aptos"/>
              </a:defRPr>
            </a:pPr>
            <a:r>
              <a:t>Encapsulation: private fields, getters/setters, static members, constants and toString().</a:t>
            </a:r>
          </a:p>
          <a:p>
            <a:pPr>
              <a:spcAft>
                <a:spcPts val="500"/>
              </a:spcAft>
              <a:defRPr sz="1100" b="0">
                <a:solidFill>
                  <a:srgbClr val="F2F3F6"/>
                </a:solidFill>
                <a:latin typeface="Aptos"/>
              </a:defRPr>
            </a:pPr>
            <a:endParaRPr/>
          </a:p>
          <a:p>
            <a:pPr>
              <a:spcAft>
                <a:spcPts val="500"/>
              </a:spcAft>
              <a:defRPr sz="1100" b="0">
                <a:solidFill>
                  <a:srgbClr val="F2F3F6"/>
                </a:solidFill>
                <a:latin typeface="Aptos"/>
              </a:defRPr>
            </a:pPr>
            <a:r>
              <a:t>Inheritance, is-a relationships, interfaces and overriding.</a:t>
            </a:r>
          </a:p>
          <a:p>
            <a:pPr>
              <a:spcAft>
                <a:spcPts val="500"/>
              </a:spcAft>
              <a:defRPr sz="1100" b="0">
                <a:solidFill>
                  <a:srgbClr val="F2F3F6"/>
                </a:solidFill>
                <a:latin typeface="Aptos"/>
              </a:defRPr>
            </a:pPr>
            <a:endParaRPr/>
          </a:p>
          <a:p>
            <a:pPr>
              <a:spcAft>
                <a:spcPts val="500"/>
              </a:spcAft>
              <a:defRPr sz="1100" b="0">
                <a:solidFill>
                  <a:srgbClr val="F2F3F6"/>
                </a:solidFill>
                <a:latin typeface="Aptos"/>
              </a:defRPr>
            </a:pPr>
            <a:r>
              <a:t>Exceptions: checked/unchecked, try-catch-finally, multi-catch, throw and throws.</a:t>
            </a:r>
          </a:p>
        </p:txBody>
      </p:sp>
      <p:sp>
        <p:nvSpPr>
          <p:cNvPr id="11" name="Rounded Rectangle 10"/>
          <p:cNvSpPr/>
          <p:nvPr/>
        </p:nvSpPr>
        <p:spPr>
          <a:xfrm>
            <a:off x="4498848" y="1508760"/>
            <a:ext cx="3611880" cy="4526280"/>
          </a:xfrm>
          <a:prstGeom prst="roundRect">
            <a:avLst/>
          </a:prstGeom>
          <a:solidFill>
            <a:srgbClr val="1D1E22"/>
          </a:solidFill>
          <a:ln>
            <a:solidFill>
              <a:srgbClr val="6A5B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498848" y="1508760"/>
            <a:ext cx="73152" cy="4526280"/>
          </a:xfrm>
          <a:prstGeom prst="rect">
            <a:avLst/>
          </a:prstGeom>
          <a:solidFill>
            <a:srgbClr val="F5BE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700016" y="1764792"/>
            <a:ext cx="3246120" cy="274320"/>
          </a:xfrm>
          <a:prstGeom prst="rect">
            <a:avLst/>
          </a:prstGeom>
          <a:noFill/>
        </p:spPr>
        <p:txBody>
          <a:bodyPr wrap="square" lIns="45720" tIns="36576" rIns="45720" bIns="27432">
            <a:spAutoFit/>
          </a:bodyPr>
          <a:lstStyle/>
          <a:p>
            <a:pPr>
              <a:spcAft>
                <a:spcPts val="500"/>
              </a:spcAft>
              <a:defRPr sz="1300" b="1">
                <a:solidFill>
                  <a:srgbClr val="F5BE2B"/>
                </a:solidFill>
                <a:latin typeface="Aptos"/>
              </a:defRPr>
            </a:pPr>
            <a:r>
              <a:t>MODULE 5</a:t>
            </a:r>
          </a:p>
        </p:txBody>
      </p:sp>
      <p:sp>
        <p:nvSpPr>
          <p:cNvPr id="14" name="TextBox 13"/>
          <p:cNvSpPr txBox="1"/>
          <p:nvPr/>
        </p:nvSpPr>
        <p:spPr>
          <a:xfrm>
            <a:off x="4700016" y="2167128"/>
            <a:ext cx="3246120" cy="749808"/>
          </a:xfrm>
          <a:prstGeom prst="rect">
            <a:avLst/>
          </a:prstGeom>
          <a:noFill/>
        </p:spPr>
        <p:txBody>
          <a:bodyPr wrap="square" lIns="45720" tIns="36576" rIns="45720" bIns="27432">
            <a:spAutoFit/>
          </a:bodyPr>
          <a:lstStyle/>
          <a:p>
            <a:pPr>
              <a:spcAft>
                <a:spcPts val="500"/>
              </a:spcAft>
              <a:defRPr sz="1200" b="1">
                <a:solidFill>
                  <a:srgbClr val="F2F3F6"/>
                </a:solidFill>
                <a:latin typeface="Aptos"/>
              </a:defRPr>
            </a:pPr>
            <a:r>
              <a:t>STRINGS, LIBRARY ALGORITHMS &amp; FILE I/O</a:t>
            </a:r>
          </a:p>
        </p:txBody>
      </p:sp>
      <p:sp>
        <p:nvSpPr>
          <p:cNvPr id="15" name="TextBox 14"/>
          <p:cNvSpPr txBox="1"/>
          <p:nvPr/>
        </p:nvSpPr>
        <p:spPr>
          <a:xfrm>
            <a:off x="4700016" y="3017520"/>
            <a:ext cx="3227832" cy="2834640"/>
          </a:xfrm>
          <a:prstGeom prst="rect">
            <a:avLst/>
          </a:prstGeom>
          <a:noFill/>
        </p:spPr>
        <p:txBody>
          <a:bodyPr wrap="square" lIns="45720" tIns="36576" rIns="45720" bIns="27432">
            <a:spAutoFit/>
          </a:bodyPr>
          <a:lstStyle/>
          <a:p>
            <a:pPr>
              <a:spcAft>
                <a:spcPts val="500"/>
              </a:spcAft>
              <a:defRPr sz="1100" b="0">
                <a:solidFill>
                  <a:srgbClr val="F2F3F6"/>
                </a:solidFill>
                <a:latin typeface="Aptos"/>
              </a:defRPr>
            </a:pPr>
            <a:r>
              <a:t>String operations: length, indexing, substring, concatenation, comparison and searching.</a:t>
            </a:r>
          </a:p>
          <a:p>
            <a:pPr>
              <a:spcAft>
                <a:spcPts val="500"/>
              </a:spcAft>
              <a:defRPr sz="1100" b="0">
                <a:solidFill>
                  <a:srgbClr val="F2F3F6"/>
                </a:solidFill>
                <a:latin typeface="Aptos"/>
              </a:defRPr>
            </a:pPr>
            <a:endParaRPr/>
          </a:p>
          <a:p>
            <a:pPr>
              <a:spcAft>
                <a:spcPts val="500"/>
              </a:spcAft>
              <a:defRPr sz="1100" b="0">
                <a:solidFill>
                  <a:srgbClr val="F2F3F6"/>
                </a:solidFill>
                <a:latin typeface="Aptos"/>
              </a:defRPr>
            </a:pPr>
            <a:r>
              <a:t>equals() vs ==; StringBuilder/StringBuffer; split(), join(), trimming and validation.</a:t>
            </a:r>
          </a:p>
          <a:p>
            <a:pPr>
              <a:spcAft>
                <a:spcPts val="500"/>
              </a:spcAft>
              <a:defRPr sz="1100" b="0">
                <a:solidFill>
                  <a:srgbClr val="F2F3F6"/>
                </a:solidFill>
                <a:latin typeface="Aptos"/>
              </a:defRPr>
            </a:pPr>
            <a:endParaRPr/>
          </a:p>
          <a:p>
            <a:pPr>
              <a:spcAft>
                <a:spcPts val="500"/>
              </a:spcAft>
              <a:defRPr sz="1100" b="0">
                <a:solidFill>
                  <a:srgbClr val="F2F3F6"/>
                </a:solidFill>
                <a:latin typeface="Aptos"/>
              </a:defRPr>
            </a:pPr>
            <a:r>
              <a:t>Searching and sorting with Arrays and Collections; Comparable and Comparator.</a:t>
            </a:r>
          </a:p>
          <a:p>
            <a:pPr>
              <a:spcAft>
                <a:spcPts val="500"/>
              </a:spcAft>
              <a:defRPr sz="1100" b="0">
                <a:solidFill>
                  <a:srgbClr val="F2F3F6"/>
                </a:solidFill>
                <a:latin typeface="Aptos"/>
              </a:defRPr>
            </a:pPr>
            <a:endParaRPr/>
          </a:p>
          <a:p>
            <a:pPr>
              <a:spcAft>
                <a:spcPts val="500"/>
              </a:spcAft>
              <a:defRPr sz="1100" b="0">
                <a:solidFill>
                  <a:srgbClr val="F2F3F6"/>
                </a:solidFill>
                <a:latin typeface="Aptos"/>
              </a:defRPr>
            </a:pPr>
            <a:r>
              <a:t>Read/write text files with Path, Files and buffered readers/writers.</a:t>
            </a:r>
          </a:p>
          <a:p>
            <a:pPr>
              <a:spcAft>
                <a:spcPts val="500"/>
              </a:spcAft>
              <a:defRPr sz="1100" b="0">
                <a:solidFill>
                  <a:srgbClr val="F2F3F6"/>
                </a:solidFill>
                <a:latin typeface="Aptos"/>
              </a:defRPr>
            </a:pPr>
            <a:endParaRPr/>
          </a:p>
          <a:p>
            <a:pPr>
              <a:spcAft>
                <a:spcPts val="500"/>
              </a:spcAft>
              <a:defRPr sz="1100" b="0">
                <a:solidFill>
                  <a:srgbClr val="F2F3F6"/>
                </a:solidFill>
                <a:latin typeface="Aptos"/>
              </a:defRPr>
            </a:pPr>
            <a:r>
              <a:t>Try-with-resources; handle missing files and malformed data.</a:t>
            </a:r>
          </a:p>
        </p:txBody>
      </p:sp>
      <p:sp>
        <p:nvSpPr>
          <p:cNvPr id="16" name="Rounded Rectangle 15"/>
          <p:cNvSpPr/>
          <p:nvPr/>
        </p:nvSpPr>
        <p:spPr>
          <a:xfrm>
            <a:off x="8311896" y="1508760"/>
            <a:ext cx="3200400" cy="4526280"/>
          </a:xfrm>
          <a:prstGeom prst="roundRect">
            <a:avLst/>
          </a:prstGeom>
          <a:solidFill>
            <a:srgbClr val="1D1E22"/>
          </a:solidFill>
          <a:ln>
            <a:solidFill>
              <a:srgbClr val="6A5B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311896" y="1508760"/>
            <a:ext cx="73152" cy="4526280"/>
          </a:xfrm>
          <a:prstGeom prst="rect">
            <a:avLst/>
          </a:prstGeom>
          <a:solidFill>
            <a:srgbClr val="F5BE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513064" y="1764792"/>
            <a:ext cx="2834640" cy="274320"/>
          </a:xfrm>
          <a:prstGeom prst="rect">
            <a:avLst/>
          </a:prstGeom>
          <a:noFill/>
        </p:spPr>
        <p:txBody>
          <a:bodyPr wrap="square" lIns="45720" tIns="36576" rIns="45720" bIns="27432">
            <a:spAutoFit/>
          </a:bodyPr>
          <a:lstStyle/>
          <a:p>
            <a:pPr>
              <a:spcAft>
                <a:spcPts val="500"/>
              </a:spcAft>
              <a:defRPr sz="1300" b="1">
                <a:solidFill>
                  <a:srgbClr val="F5BE2B"/>
                </a:solidFill>
                <a:latin typeface="Aptos"/>
              </a:defRPr>
            </a:pPr>
            <a:r>
              <a:t>MODULE 6</a:t>
            </a:r>
          </a:p>
        </p:txBody>
      </p:sp>
      <p:sp>
        <p:nvSpPr>
          <p:cNvPr id="19" name="TextBox 18"/>
          <p:cNvSpPr txBox="1"/>
          <p:nvPr/>
        </p:nvSpPr>
        <p:spPr>
          <a:xfrm>
            <a:off x="8513064" y="2167128"/>
            <a:ext cx="2834640" cy="749808"/>
          </a:xfrm>
          <a:prstGeom prst="rect">
            <a:avLst/>
          </a:prstGeom>
          <a:noFill/>
        </p:spPr>
        <p:txBody>
          <a:bodyPr wrap="square" lIns="45720" tIns="36576" rIns="45720" bIns="27432">
            <a:spAutoFit/>
          </a:bodyPr>
          <a:lstStyle/>
          <a:p>
            <a:pPr>
              <a:spcAft>
                <a:spcPts val="500"/>
              </a:spcAft>
              <a:defRPr sz="1200" b="1">
                <a:solidFill>
                  <a:srgbClr val="F2F3F6"/>
                </a:solidFill>
                <a:latin typeface="Aptos"/>
              </a:defRPr>
            </a:pPr>
            <a:r>
              <a:t>COLLECTIONS, LAMBDAS &amp; STREAMS</a:t>
            </a:r>
          </a:p>
        </p:txBody>
      </p:sp>
      <p:sp>
        <p:nvSpPr>
          <p:cNvPr id="20" name="TextBox 19"/>
          <p:cNvSpPr txBox="1"/>
          <p:nvPr/>
        </p:nvSpPr>
        <p:spPr>
          <a:xfrm>
            <a:off x="8513064" y="3017520"/>
            <a:ext cx="2816352" cy="2834640"/>
          </a:xfrm>
          <a:prstGeom prst="rect">
            <a:avLst/>
          </a:prstGeom>
          <a:noFill/>
        </p:spPr>
        <p:txBody>
          <a:bodyPr wrap="square" lIns="45720" tIns="36576" rIns="45720" bIns="27432">
            <a:spAutoFit/>
          </a:bodyPr>
          <a:lstStyle/>
          <a:p>
            <a:pPr>
              <a:spcAft>
                <a:spcPts val="500"/>
              </a:spcAft>
              <a:defRPr sz="1100" b="0">
                <a:solidFill>
                  <a:srgbClr val="F2F3F6"/>
                </a:solidFill>
                <a:latin typeface="Aptos"/>
              </a:defRPr>
            </a:pPr>
            <a:r>
              <a:t>List, Set and Map using ArrayList, HashSet, HashMap and ordered collections.</a:t>
            </a:r>
          </a:p>
          <a:p>
            <a:pPr>
              <a:spcAft>
                <a:spcPts val="500"/>
              </a:spcAft>
              <a:defRPr sz="1100" b="0">
                <a:solidFill>
                  <a:srgbClr val="F2F3F6"/>
                </a:solidFill>
                <a:latin typeface="Aptos"/>
              </a:defRPr>
            </a:pPr>
            <a:endParaRPr/>
          </a:p>
          <a:p>
            <a:pPr>
              <a:spcAft>
                <a:spcPts val="500"/>
              </a:spcAft>
              <a:defRPr sz="1100" b="0">
                <a:solidFill>
                  <a:srgbClr val="F2F3F6"/>
                </a:solidFill>
                <a:latin typeface="Aptos"/>
              </a:defRPr>
            </a:pPr>
            <a:r>
              <a:t>Generics, type safety, autoboxing, for-each loops and iterators.</a:t>
            </a:r>
          </a:p>
          <a:p>
            <a:pPr>
              <a:spcAft>
                <a:spcPts val="500"/>
              </a:spcAft>
              <a:defRPr sz="1100" b="0">
                <a:solidFill>
                  <a:srgbClr val="F2F3F6"/>
                </a:solidFill>
                <a:latin typeface="Aptos"/>
              </a:defRPr>
            </a:pPr>
            <a:endParaRPr/>
          </a:p>
          <a:p>
            <a:pPr>
              <a:spcAft>
                <a:spcPts val="500"/>
              </a:spcAft>
              <a:defRPr sz="1100" b="0">
                <a:solidFill>
                  <a:srgbClr val="F2F3F6"/>
                </a:solidFill>
                <a:latin typeface="Aptos"/>
              </a:defRPr>
            </a:pPr>
            <a:r>
              <a:t>Functional interfaces and lambdas: Predicate, Function, Consumer, Supplier and Comparator.</a:t>
            </a:r>
          </a:p>
          <a:p>
            <a:pPr>
              <a:spcAft>
                <a:spcPts val="500"/>
              </a:spcAft>
              <a:defRPr sz="1100" b="0">
                <a:solidFill>
                  <a:srgbClr val="F2F3F6"/>
                </a:solidFill>
                <a:latin typeface="Aptos"/>
              </a:defRPr>
            </a:pPr>
            <a:endParaRPr/>
          </a:p>
          <a:p>
            <a:pPr>
              <a:spcAft>
                <a:spcPts val="500"/>
              </a:spcAft>
              <a:defRPr sz="1100" b="0">
                <a:solidFill>
                  <a:srgbClr val="F2F3F6"/>
                </a:solidFill>
                <a:latin typeface="Aptos"/>
              </a:defRPr>
            </a:pPr>
            <a:r>
              <a:t>Streams: filter, map, sorted, distinct, limit, forEach, collect, count and reduce.</a:t>
            </a:r>
          </a:p>
          <a:p>
            <a:pPr>
              <a:spcAft>
                <a:spcPts val="500"/>
              </a:spcAft>
              <a:defRPr sz="1100" b="0">
                <a:solidFill>
                  <a:srgbClr val="F2F3F6"/>
                </a:solidFill>
                <a:latin typeface="Aptos"/>
              </a:defRPr>
            </a:pPr>
            <a:endParaRPr/>
          </a:p>
          <a:p>
            <a:pPr>
              <a:spcAft>
                <a:spcPts val="500"/>
              </a:spcAft>
              <a:defRPr sz="1100" b="0">
                <a:solidFill>
                  <a:srgbClr val="F2F3F6"/>
                </a:solidFill>
                <a:latin typeface="Aptos"/>
              </a:defRPr>
            </a:pPr>
            <a:r>
              <a:t>Collectors: toList, groupingBy, counting, joining and file-line streams.</a:t>
            </a:r>
          </a:p>
        </p:txBody>
      </p:sp>
      <p:sp>
        <p:nvSpPr>
          <p:cNvPr id="21" name="Rounded Rectangle 20"/>
          <p:cNvSpPr/>
          <p:nvPr/>
        </p:nvSpPr>
        <p:spPr>
          <a:xfrm>
            <a:off x="685800" y="6199632"/>
            <a:ext cx="10835640" cy="256032"/>
          </a:xfrm>
          <a:prstGeom prst="roundRect">
            <a:avLst/>
          </a:prstGeom>
          <a:solidFill>
            <a:srgbClr val="4A3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68680" y="6199632"/>
            <a:ext cx="10424160" cy="219456"/>
          </a:xfrm>
          <a:prstGeom prst="rect">
            <a:avLst/>
          </a:prstGeom>
          <a:noFill/>
        </p:spPr>
        <p:txBody>
          <a:bodyPr wrap="square" lIns="45720" tIns="36576" rIns="45720" bIns="27432">
            <a:spAutoFit/>
          </a:bodyPr>
          <a:lstStyle/>
          <a:p>
            <a:pPr>
              <a:spcAft>
                <a:spcPts val="500"/>
              </a:spcAft>
              <a:defRPr sz="1000" b="1">
                <a:solidFill>
                  <a:srgbClr val="F2F3F6"/>
                </a:solidFill>
                <a:latin typeface="Aptos"/>
              </a:defRPr>
            </a:pPr>
            <a:r>
              <a:t>PROJECT LINK: Model packages as objects, save records to files, and use collections/streams for tracking reports.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2151B"/>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9436"/>
          </a:xfrm>
          <a:prstGeom prst="rect">
            <a:avLst/>
          </a:prstGeom>
          <a:solidFill>
            <a:srgbClr val="F5BE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21792" y="384048"/>
            <a:ext cx="10972800" cy="566928"/>
          </a:xfrm>
          <a:prstGeom prst="rect">
            <a:avLst/>
          </a:prstGeom>
          <a:noFill/>
        </p:spPr>
        <p:txBody>
          <a:bodyPr wrap="square" lIns="45720" tIns="36576" rIns="45720" bIns="27432">
            <a:spAutoFit/>
          </a:bodyPr>
          <a:lstStyle/>
          <a:p>
            <a:pPr>
              <a:spcAft>
                <a:spcPts val="500"/>
              </a:spcAft>
              <a:defRPr sz="2700" b="1">
                <a:solidFill>
                  <a:srgbClr val="F5BE2B"/>
                </a:solidFill>
                <a:latin typeface="Aptos"/>
              </a:defRPr>
            </a:pPr>
            <a:r>
              <a:t>Advantages &amp; Limitations</a:t>
            </a:r>
          </a:p>
        </p:txBody>
      </p:sp>
      <p:sp>
        <p:nvSpPr>
          <p:cNvPr id="4" name="TextBox 3"/>
          <p:cNvSpPr txBox="1"/>
          <p:nvPr/>
        </p:nvSpPr>
        <p:spPr>
          <a:xfrm>
            <a:off x="658368" y="987552"/>
            <a:ext cx="10789920" cy="310896"/>
          </a:xfrm>
          <a:prstGeom prst="rect">
            <a:avLst/>
          </a:prstGeom>
          <a:noFill/>
        </p:spPr>
        <p:txBody>
          <a:bodyPr wrap="square" lIns="45720" tIns="36576" rIns="45720" bIns="27432">
            <a:spAutoFit/>
          </a:bodyPr>
          <a:lstStyle/>
          <a:p>
            <a:pPr>
              <a:spcAft>
                <a:spcPts val="500"/>
              </a:spcAft>
              <a:defRPr sz="1200" b="0">
                <a:solidFill>
                  <a:srgbClr val="B1B6C0"/>
                </a:solidFill>
                <a:latin typeface="Aptos"/>
              </a:defRPr>
            </a:pPr>
            <a:r>
              <a:t>Current system capabilities</a:t>
            </a:r>
          </a:p>
        </p:txBody>
      </p:sp>
      <p:sp>
        <p:nvSpPr>
          <p:cNvPr id="5" name="TextBox 4"/>
          <p:cNvSpPr txBox="1"/>
          <p:nvPr/>
        </p:nvSpPr>
        <p:spPr>
          <a:xfrm>
            <a:off x="640080" y="6537960"/>
            <a:ext cx="10789920" cy="182880"/>
          </a:xfrm>
          <a:prstGeom prst="rect">
            <a:avLst/>
          </a:prstGeom>
          <a:noFill/>
        </p:spPr>
        <p:txBody>
          <a:bodyPr wrap="square" lIns="45720" tIns="36576" rIns="45720" bIns="27432">
            <a:spAutoFit/>
          </a:bodyPr>
          <a:lstStyle/>
          <a:p>
            <a:pPr>
              <a:spcAft>
                <a:spcPts val="500"/>
              </a:spcAft>
              <a:defRPr sz="800" b="0">
                <a:solidFill>
                  <a:srgbClr val="B1B6C0"/>
                </a:solidFill>
                <a:latin typeface="Aptos"/>
              </a:defRPr>
            </a:pPr>
            <a:r>
              <a:t>Courier Delivery Route &amp; Tracking System  •  9</a:t>
            </a:r>
          </a:p>
        </p:txBody>
      </p:sp>
      <p:sp>
        <p:nvSpPr>
          <p:cNvPr id="6" name="TextBox 5"/>
          <p:cNvSpPr txBox="1"/>
          <p:nvPr/>
        </p:nvSpPr>
        <p:spPr>
          <a:xfrm>
            <a:off x="777240" y="1600200"/>
            <a:ext cx="4663440" cy="320040"/>
          </a:xfrm>
          <a:prstGeom prst="rect">
            <a:avLst/>
          </a:prstGeom>
          <a:noFill/>
        </p:spPr>
        <p:txBody>
          <a:bodyPr wrap="square" lIns="45720" tIns="36576" rIns="45720" bIns="27432">
            <a:spAutoFit/>
          </a:bodyPr>
          <a:lstStyle/>
          <a:p>
            <a:pPr>
              <a:spcAft>
                <a:spcPts val="500"/>
              </a:spcAft>
              <a:defRPr sz="1600" b="1">
                <a:solidFill>
                  <a:srgbClr val="49BE89"/>
                </a:solidFill>
                <a:latin typeface="Aptos"/>
              </a:defRPr>
            </a:pPr>
            <a:r>
              <a:t>ADVANTAGES</a:t>
            </a:r>
          </a:p>
        </p:txBody>
      </p:sp>
      <p:sp>
        <p:nvSpPr>
          <p:cNvPr id="7" name="TextBox 6"/>
          <p:cNvSpPr txBox="1"/>
          <p:nvPr/>
        </p:nvSpPr>
        <p:spPr>
          <a:xfrm>
            <a:off x="822960" y="2057400"/>
            <a:ext cx="4754880" cy="3383280"/>
          </a:xfrm>
          <a:prstGeom prst="rect">
            <a:avLst/>
          </a:prstGeom>
          <a:noFill/>
        </p:spPr>
        <p:txBody>
          <a:bodyPr wrap="square" lIns="45720" tIns="36576" rIns="45720" bIns="27432">
            <a:spAutoFit/>
          </a:bodyPr>
          <a:lstStyle/>
          <a:p>
            <a:pPr>
              <a:spcAft>
                <a:spcPts val="500"/>
              </a:spcAft>
              <a:defRPr sz="1800" b="0">
                <a:solidFill>
                  <a:srgbClr val="F2F3F6"/>
                </a:solidFill>
                <a:latin typeface="Aptos"/>
              </a:defRPr>
            </a:pPr>
            <a:r>
              <a:t>• Easy package management.</a:t>
            </a:r>
          </a:p>
          <a:p>
            <a:pPr>
              <a:spcAft>
                <a:spcPts val="500"/>
              </a:spcAft>
              <a:defRPr sz="1800" b="0">
                <a:solidFill>
                  <a:srgbClr val="F2F3F6"/>
                </a:solidFill>
                <a:latin typeface="Aptos"/>
              </a:defRPr>
            </a:pPr>
            <a:endParaRPr/>
          </a:p>
          <a:p>
            <a:pPr>
              <a:spcAft>
                <a:spcPts val="500"/>
              </a:spcAft>
              <a:defRPr sz="1800" b="0">
                <a:solidFill>
                  <a:srgbClr val="F2F3F6"/>
                </a:solidFill>
                <a:latin typeface="Aptos"/>
              </a:defRPr>
            </a:pPr>
            <a:r>
              <a:t>• Easy status updates.</a:t>
            </a:r>
          </a:p>
          <a:p>
            <a:pPr>
              <a:spcAft>
                <a:spcPts val="500"/>
              </a:spcAft>
              <a:defRPr sz="1800" b="0">
                <a:solidFill>
                  <a:srgbClr val="F2F3F6"/>
                </a:solidFill>
                <a:latin typeface="Aptos"/>
              </a:defRPr>
            </a:pPr>
            <a:endParaRPr/>
          </a:p>
          <a:p>
            <a:pPr>
              <a:spcAft>
                <a:spcPts val="500"/>
              </a:spcAft>
              <a:defRPr sz="1800" b="0">
                <a:solidFill>
                  <a:srgbClr val="F2F3F6"/>
                </a:solidFill>
                <a:latin typeface="Aptos"/>
              </a:defRPr>
            </a:pPr>
            <a:r>
              <a:t>• User-friendly menu.</a:t>
            </a:r>
          </a:p>
          <a:p>
            <a:pPr>
              <a:spcAft>
                <a:spcPts val="500"/>
              </a:spcAft>
              <a:defRPr sz="1800" b="0">
                <a:solidFill>
                  <a:srgbClr val="F2F3F6"/>
                </a:solidFill>
                <a:latin typeface="Aptos"/>
              </a:defRPr>
            </a:pPr>
            <a:endParaRPr/>
          </a:p>
          <a:p>
            <a:pPr>
              <a:spcAft>
                <a:spcPts val="500"/>
              </a:spcAft>
              <a:defRPr sz="1800" b="0">
                <a:solidFill>
                  <a:srgbClr val="F2F3F6"/>
                </a:solidFill>
                <a:latin typeface="Aptos"/>
              </a:defRPr>
            </a:pPr>
            <a:r>
              <a:t>• Demonstrates Java concepts.</a:t>
            </a:r>
          </a:p>
          <a:p>
            <a:pPr>
              <a:spcAft>
                <a:spcPts val="500"/>
              </a:spcAft>
              <a:defRPr sz="1800" b="0">
                <a:solidFill>
                  <a:srgbClr val="F2F3F6"/>
                </a:solidFill>
                <a:latin typeface="Aptos"/>
              </a:defRPr>
            </a:pPr>
            <a:endParaRPr/>
          </a:p>
          <a:p>
            <a:pPr>
              <a:spcAft>
                <a:spcPts val="500"/>
              </a:spcAft>
              <a:defRPr sz="1800" b="0">
                <a:solidFill>
                  <a:srgbClr val="F2F3F6"/>
                </a:solidFill>
                <a:latin typeface="Aptos"/>
              </a:defRPr>
            </a:pPr>
            <a:r>
              <a:t>• Simple route organization.</a:t>
            </a:r>
          </a:p>
        </p:txBody>
      </p:sp>
      <p:sp>
        <p:nvSpPr>
          <p:cNvPr id="8" name="TextBox 7"/>
          <p:cNvSpPr txBox="1"/>
          <p:nvPr/>
        </p:nvSpPr>
        <p:spPr>
          <a:xfrm>
            <a:off x="6309360" y="1600200"/>
            <a:ext cx="4663440" cy="320040"/>
          </a:xfrm>
          <a:prstGeom prst="rect">
            <a:avLst/>
          </a:prstGeom>
          <a:noFill/>
        </p:spPr>
        <p:txBody>
          <a:bodyPr wrap="square" lIns="45720" tIns="36576" rIns="45720" bIns="27432">
            <a:spAutoFit/>
          </a:bodyPr>
          <a:lstStyle/>
          <a:p>
            <a:pPr>
              <a:spcAft>
                <a:spcPts val="500"/>
              </a:spcAft>
              <a:defRPr sz="1600" b="1">
                <a:solidFill>
                  <a:srgbClr val="DE6871"/>
                </a:solidFill>
                <a:latin typeface="Aptos"/>
              </a:defRPr>
            </a:pPr>
            <a:r>
              <a:t>LIMITATIONS</a:t>
            </a:r>
          </a:p>
        </p:txBody>
      </p:sp>
      <p:sp>
        <p:nvSpPr>
          <p:cNvPr id="9" name="TextBox 8"/>
          <p:cNvSpPr txBox="1"/>
          <p:nvPr/>
        </p:nvSpPr>
        <p:spPr>
          <a:xfrm>
            <a:off x="6355080" y="2057400"/>
            <a:ext cx="4663440" cy="3383280"/>
          </a:xfrm>
          <a:prstGeom prst="rect">
            <a:avLst/>
          </a:prstGeom>
          <a:noFill/>
        </p:spPr>
        <p:txBody>
          <a:bodyPr wrap="square" lIns="45720" tIns="36576" rIns="45720" bIns="27432">
            <a:spAutoFit/>
          </a:bodyPr>
          <a:lstStyle/>
          <a:p>
            <a:pPr>
              <a:spcAft>
                <a:spcPts val="500"/>
              </a:spcAft>
              <a:defRPr sz="1800" b="0">
                <a:solidFill>
                  <a:srgbClr val="F2F3F6"/>
                </a:solidFill>
                <a:latin typeface="Aptos"/>
              </a:defRPr>
            </a:pPr>
            <a:r>
              <a:t>• No real-time GPS.</a:t>
            </a:r>
          </a:p>
          <a:p>
            <a:pPr>
              <a:spcAft>
                <a:spcPts val="500"/>
              </a:spcAft>
              <a:defRPr sz="1800" b="0">
                <a:solidFill>
                  <a:srgbClr val="F2F3F6"/>
                </a:solidFill>
                <a:latin typeface="Aptos"/>
              </a:defRPr>
            </a:pPr>
            <a:endParaRPr/>
          </a:p>
          <a:p>
            <a:pPr>
              <a:spcAft>
                <a:spcPts val="500"/>
              </a:spcAft>
              <a:defRPr sz="1800" b="0">
                <a:solidFill>
                  <a:srgbClr val="F2F3F6"/>
                </a:solidFill>
                <a:latin typeface="Aptos"/>
              </a:defRPr>
            </a:pPr>
            <a:r>
              <a:t>• No database connectivity.</a:t>
            </a:r>
          </a:p>
          <a:p>
            <a:pPr>
              <a:spcAft>
                <a:spcPts val="500"/>
              </a:spcAft>
              <a:defRPr sz="1800" b="0">
                <a:solidFill>
                  <a:srgbClr val="F2F3F6"/>
                </a:solidFill>
                <a:latin typeface="Aptos"/>
              </a:defRPr>
            </a:pPr>
            <a:endParaRPr/>
          </a:p>
          <a:p>
            <a:pPr>
              <a:spcAft>
                <a:spcPts val="500"/>
              </a:spcAft>
              <a:defRPr sz="1800" b="0">
                <a:solidFill>
                  <a:srgbClr val="F2F3F6"/>
                </a:solidFill>
                <a:latin typeface="Aptos"/>
              </a:defRPr>
            </a:pPr>
            <a:r>
              <a:t>• Fixed array size.</a:t>
            </a:r>
          </a:p>
          <a:p>
            <a:pPr>
              <a:spcAft>
                <a:spcPts val="500"/>
              </a:spcAft>
              <a:defRPr sz="1800" b="0">
                <a:solidFill>
                  <a:srgbClr val="F2F3F6"/>
                </a:solidFill>
                <a:latin typeface="Aptos"/>
              </a:defRPr>
            </a:pPr>
            <a:endParaRPr/>
          </a:p>
          <a:p>
            <a:pPr>
              <a:spcAft>
                <a:spcPts val="500"/>
              </a:spcAft>
              <a:defRPr sz="1800" b="0">
                <a:solidFill>
                  <a:srgbClr val="F2F3F6"/>
                </a:solidFill>
                <a:latin typeface="Aptos"/>
              </a:defRPr>
            </a:pPr>
            <a:r>
              <a:t>• Manual status updates.</a:t>
            </a:r>
          </a:p>
          <a:p>
            <a:pPr>
              <a:spcAft>
                <a:spcPts val="500"/>
              </a:spcAft>
              <a:defRPr sz="1800" b="0">
                <a:solidFill>
                  <a:srgbClr val="F2F3F6"/>
                </a:solidFill>
                <a:latin typeface="Aptos"/>
              </a:defRPr>
            </a:pPr>
            <a:endParaRPr/>
          </a:p>
          <a:p>
            <a:pPr>
              <a:spcAft>
                <a:spcPts val="500"/>
              </a:spcAft>
              <a:defRPr sz="1800" b="0">
                <a:solidFill>
                  <a:srgbClr val="F2F3F6"/>
                </a:solidFill>
                <a:latin typeface="Aptos"/>
              </a:defRPr>
            </a:pPr>
            <a:r>
              <a:t>• Limited route optimization.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2151B"/>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9436"/>
          </a:xfrm>
          <a:prstGeom prst="rect">
            <a:avLst/>
          </a:prstGeom>
          <a:solidFill>
            <a:srgbClr val="F5BE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21792" y="384048"/>
            <a:ext cx="10972800" cy="566928"/>
          </a:xfrm>
          <a:prstGeom prst="rect">
            <a:avLst/>
          </a:prstGeom>
          <a:noFill/>
        </p:spPr>
        <p:txBody>
          <a:bodyPr wrap="square" lIns="45720" tIns="36576" rIns="45720" bIns="27432">
            <a:spAutoFit/>
          </a:bodyPr>
          <a:lstStyle/>
          <a:p>
            <a:pPr>
              <a:spcAft>
                <a:spcPts val="500"/>
              </a:spcAft>
              <a:defRPr sz="2700" b="1">
                <a:solidFill>
                  <a:srgbClr val="F5BE2B"/>
                </a:solidFill>
                <a:latin typeface="Aptos"/>
              </a:defRPr>
            </a:pPr>
            <a:r>
              <a:t>Conclusion</a:t>
            </a:r>
          </a:p>
        </p:txBody>
      </p:sp>
      <p:sp>
        <p:nvSpPr>
          <p:cNvPr id="4" name="TextBox 3"/>
          <p:cNvSpPr txBox="1"/>
          <p:nvPr/>
        </p:nvSpPr>
        <p:spPr>
          <a:xfrm>
            <a:off x="658368" y="987552"/>
            <a:ext cx="10789920" cy="310896"/>
          </a:xfrm>
          <a:prstGeom prst="rect">
            <a:avLst/>
          </a:prstGeom>
          <a:noFill/>
        </p:spPr>
        <p:txBody>
          <a:bodyPr wrap="square" lIns="45720" tIns="36576" rIns="45720" bIns="27432">
            <a:spAutoFit/>
          </a:bodyPr>
          <a:lstStyle/>
          <a:p>
            <a:pPr>
              <a:spcAft>
                <a:spcPts val="500"/>
              </a:spcAft>
              <a:defRPr sz="1200" b="0">
                <a:solidFill>
                  <a:srgbClr val="B1B6C0"/>
                </a:solidFill>
                <a:latin typeface="Aptos"/>
              </a:defRPr>
            </a:pPr>
            <a:r>
              <a:t>A simple Java solution for a real-world logistics problem</a:t>
            </a:r>
          </a:p>
        </p:txBody>
      </p:sp>
      <p:sp>
        <p:nvSpPr>
          <p:cNvPr id="5" name="TextBox 4"/>
          <p:cNvSpPr txBox="1"/>
          <p:nvPr/>
        </p:nvSpPr>
        <p:spPr>
          <a:xfrm>
            <a:off x="640080" y="6537960"/>
            <a:ext cx="10789920" cy="182880"/>
          </a:xfrm>
          <a:prstGeom prst="rect">
            <a:avLst/>
          </a:prstGeom>
          <a:noFill/>
        </p:spPr>
        <p:txBody>
          <a:bodyPr wrap="square" lIns="45720" tIns="36576" rIns="45720" bIns="27432">
            <a:spAutoFit/>
          </a:bodyPr>
          <a:lstStyle/>
          <a:p>
            <a:pPr>
              <a:spcAft>
                <a:spcPts val="500"/>
              </a:spcAft>
              <a:defRPr sz="800" b="0">
                <a:solidFill>
                  <a:srgbClr val="B1B6C0"/>
                </a:solidFill>
                <a:latin typeface="Aptos"/>
              </a:defRPr>
            </a:pPr>
            <a:r>
              <a:t>Courier Delivery Route &amp; Tracking System  •  10</a:t>
            </a:r>
          </a:p>
        </p:txBody>
      </p:sp>
      <p:sp>
        <p:nvSpPr>
          <p:cNvPr id="6" name="TextBox 5"/>
          <p:cNvSpPr txBox="1"/>
          <p:nvPr/>
        </p:nvSpPr>
        <p:spPr>
          <a:xfrm>
            <a:off x="777240" y="1691640"/>
            <a:ext cx="10424160" cy="1600200"/>
          </a:xfrm>
          <a:prstGeom prst="rect">
            <a:avLst/>
          </a:prstGeom>
          <a:noFill/>
        </p:spPr>
        <p:txBody>
          <a:bodyPr wrap="square" lIns="45720" tIns="36576" rIns="45720" bIns="27432">
            <a:spAutoFit/>
          </a:bodyPr>
          <a:lstStyle/>
          <a:p>
            <a:pPr>
              <a:spcAft>
                <a:spcPts val="500"/>
              </a:spcAft>
              <a:defRPr sz="2000" b="0">
                <a:solidFill>
                  <a:srgbClr val="F2F3F6"/>
                </a:solidFill>
                <a:latin typeface="Aptos"/>
              </a:defRPr>
            </a:pPr>
            <a:r>
              <a:t>The Courier Delivery Route and Tracking System provides an organized way to manage courier details, delivery routes and package status. It demonstrates how Java programming concepts can be applied to a practical logistics problem, from core syntax and control flow to object-oriented design, file handling, collections and stream-based processing.</a:t>
            </a:r>
          </a:p>
        </p:txBody>
      </p:sp>
      <p:sp>
        <p:nvSpPr>
          <p:cNvPr id="7" name="Rounded Rectangle 6"/>
          <p:cNvSpPr/>
          <p:nvPr/>
        </p:nvSpPr>
        <p:spPr>
          <a:xfrm>
            <a:off x="777240" y="3703320"/>
            <a:ext cx="10469880" cy="1280160"/>
          </a:xfrm>
          <a:prstGeom prst="roundRect">
            <a:avLst/>
          </a:prstGeom>
          <a:solidFill>
            <a:srgbClr val="1E2128"/>
          </a:solidFill>
          <a:ln>
            <a:solidFill>
              <a:srgbClr val="373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51560" y="3977639"/>
            <a:ext cx="1828800" cy="274320"/>
          </a:xfrm>
          <a:prstGeom prst="rect">
            <a:avLst/>
          </a:prstGeom>
          <a:noFill/>
        </p:spPr>
        <p:txBody>
          <a:bodyPr wrap="square" lIns="45720" tIns="36576" rIns="45720" bIns="27432">
            <a:spAutoFit/>
          </a:bodyPr>
          <a:lstStyle/>
          <a:p>
            <a:pPr>
              <a:spcAft>
                <a:spcPts val="500"/>
              </a:spcAft>
              <a:defRPr sz="1400" b="1">
                <a:solidFill>
                  <a:srgbClr val="F5BE2B"/>
                </a:solidFill>
                <a:latin typeface="Aptos"/>
              </a:defRPr>
            </a:pPr>
            <a:r>
              <a:t>FUTURE SCOPE</a:t>
            </a:r>
          </a:p>
        </p:txBody>
      </p:sp>
      <p:sp>
        <p:nvSpPr>
          <p:cNvPr id="9" name="TextBox 8"/>
          <p:cNvSpPr txBox="1"/>
          <p:nvPr/>
        </p:nvSpPr>
        <p:spPr>
          <a:xfrm>
            <a:off x="2743200" y="3886200"/>
            <a:ext cx="8046720" cy="685800"/>
          </a:xfrm>
          <a:prstGeom prst="rect">
            <a:avLst/>
          </a:prstGeom>
          <a:noFill/>
        </p:spPr>
        <p:txBody>
          <a:bodyPr wrap="square" lIns="45720" tIns="36576" rIns="45720" bIns="27432">
            <a:spAutoFit/>
          </a:bodyPr>
          <a:lstStyle/>
          <a:p>
            <a:pPr>
              <a:spcAft>
                <a:spcPts val="500"/>
              </a:spcAft>
              <a:defRPr sz="1500" b="0">
                <a:solidFill>
                  <a:srgbClr val="F2F3F6"/>
                </a:solidFill>
                <a:latin typeface="Aptos"/>
              </a:defRPr>
            </a:pPr>
            <a:r>
              <a:t>GPS and live tracking  •  Map-based route optimization  •  Database connectivity  •  Customer notifications  •  Web/mobile interface</a:t>
            </a:r>
          </a:p>
        </p:txBody>
      </p:sp>
      <p:sp>
        <p:nvSpPr>
          <p:cNvPr id="10" name="TextBox 9"/>
          <p:cNvSpPr txBox="1"/>
          <p:nvPr/>
        </p:nvSpPr>
        <p:spPr>
          <a:xfrm>
            <a:off x="777240" y="5486400"/>
            <a:ext cx="10424160" cy="502920"/>
          </a:xfrm>
          <a:prstGeom prst="rect">
            <a:avLst/>
          </a:prstGeom>
          <a:noFill/>
        </p:spPr>
        <p:txBody>
          <a:bodyPr wrap="square" lIns="45720" tIns="36576" rIns="45720" bIns="27432">
            <a:spAutoFit/>
          </a:bodyPr>
          <a:lstStyle/>
          <a:p>
            <a:pPr algn="ctr">
              <a:spcAft>
                <a:spcPts val="500"/>
              </a:spcAft>
              <a:defRPr sz="2700" b="1">
                <a:solidFill>
                  <a:srgbClr val="F5BE2B"/>
                </a:solidFill>
                <a:latin typeface="Aptos"/>
              </a:defRPr>
            </a:pPr>
            <a:r>
              <a:t>THANK YOU</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2151B"/>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9436"/>
          </a:xfrm>
          <a:prstGeom prst="rect">
            <a:avLst/>
          </a:prstGeom>
          <a:solidFill>
            <a:srgbClr val="F5BE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21792" y="384048"/>
            <a:ext cx="10972800" cy="566928"/>
          </a:xfrm>
          <a:prstGeom prst="rect">
            <a:avLst/>
          </a:prstGeom>
          <a:noFill/>
        </p:spPr>
        <p:txBody>
          <a:bodyPr wrap="square" lIns="45720" tIns="36576" rIns="45720" bIns="27432">
            <a:spAutoFit/>
          </a:bodyPr>
          <a:lstStyle/>
          <a:p>
            <a:pPr>
              <a:spcAft>
                <a:spcPts val="500"/>
              </a:spcAft>
              <a:defRPr sz="2700" b="1">
                <a:solidFill>
                  <a:srgbClr val="F5BE2B"/>
                </a:solidFill>
                <a:latin typeface="Aptos"/>
              </a:defRPr>
            </a:pPr>
            <a:r>
              <a:t>Course Outcomes • CO1–CO6</a:t>
            </a:r>
          </a:p>
        </p:txBody>
      </p:sp>
      <p:sp>
        <p:nvSpPr>
          <p:cNvPr id="4" name="TextBox 3"/>
          <p:cNvSpPr txBox="1"/>
          <p:nvPr/>
        </p:nvSpPr>
        <p:spPr>
          <a:xfrm>
            <a:off x="658368" y="987552"/>
            <a:ext cx="10789920" cy="310896"/>
          </a:xfrm>
          <a:prstGeom prst="rect">
            <a:avLst/>
          </a:prstGeom>
          <a:noFill/>
        </p:spPr>
        <p:txBody>
          <a:bodyPr wrap="square" lIns="45720" tIns="36576" rIns="45720" bIns="27432">
            <a:spAutoFit/>
          </a:bodyPr>
          <a:lstStyle/>
          <a:p>
            <a:pPr>
              <a:spcAft>
                <a:spcPts val="500"/>
              </a:spcAft>
              <a:defRPr sz="1200" b="0">
                <a:solidFill>
                  <a:srgbClr val="B1B6C0"/>
                </a:solidFill>
                <a:latin typeface="Aptos"/>
              </a:defRPr>
            </a:pPr>
            <a:r>
              <a:t>Full Java syllabus coverage in the Courier Delivery Route &amp; Tracking System</a:t>
            </a:r>
          </a:p>
        </p:txBody>
      </p:sp>
      <p:sp>
        <p:nvSpPr>
          <p:cNvPr id="5" name="TextBox 4"/>
          <p:cNvSpPr txBox="1"/>
          <p:nvPr/>
        </p:nvSpPr>
        <p:spPr>
          <a:xfrm>
            <a:off x="640080" y="6537960"/>
            <a:ext cx="10789920" cy="182880"/>
          </a:xfrm>
          <a:prstGeom prst="rect">
            <a:avLst/>
          </a:prstGeom>
          <a:noFill/>
        </p:spPr>
        <p:txBody>
          <a:bodyPr wrap="square" lIns="45720" tIns="36576" rIns="45720" bIns="27432">
            <a:spAutoFit/>
          </a:bodyPr>
          <a:lstStyle/>
          <a:p>
            <a:pPr>
              <a:spcAft>
                <a:spcPts val="500"/>
              </a:spcAft>
              <a:defRPr sz="800" b="0">
                <a:solidFill>
                  <a:srgbClr val="B1B6C0"/>
                </a:solidFill>
                <a:latin typeface="Aptos"/>
              </a:defRPr>
            </a:pPr>
            <a:r>
              <a:t>Courier Delivery Route &amp; Tracking System  •  11</a:t>
            </a:r>
          </a:p>
        </p:txBody>
      </p:sp>
      <p:sp>
        <p:nvSpPr>
          <p:cNvPr id="6" name="Rounded Rectangle 5"/>
          <p:cNvSpPr/>
          <p:nvPr/>
        </p:nvSpPr>
        <p:spPr>
          <a:xfrm>
            <a:off x="777240" y="1508760"/>
            <a:ext cx="5074920" cy="987552"/>
          </a:xfrm>
          <a:prstGeom prst="roundRect">
            <a:avLst/>
          </a:prstGeom>
          <a:solidFill>
            <a:srgbClr val="1E2128"/>
          </a:solidFill>
          <a:ln>
            <a:solidFill>
              <a:srgbClr val="373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60120" y="1673351"/>
            <a:ext cx="731520" cy="320040"/>
          </a:xfrm>
          <a:prstGeom prst="rect">
            <a:avLst/>
          </a:prstGeom>
          <a:noFill/>
        </p:spPr>
        <p:txBody>
          <a:bodyPr wrap="square" lIns="45720" tIns="36576" rIns="45720" bIns="27432">
            <a:spAutoFit/>
          </a:bodyPr>
          <a:lstStyle/>
          <a:p>
            <a:pPr>
              <a:spcAft>
                <a:spcPts val="500"/>
              </a:spcAft>
              <a:defRPr sz="1600" b="1">
                <a:solidFill>
                  <a:srgbClr val="F5BE2B"/>
                </a:solidFill>
                <a:latin typeface="Aptos"/>
              </a:defRPr>
            </a:pPr>
            <a:r>
              <a:t>CO1</a:t>
            </a:r>
          </a:p>
        </p:txBody>
      </p:sp>
      <p:sp>
        <p:nvSpPr>
          <p:cNvPr id="8" name="TextBox 7"/>
          <p:cNvSpPr txBox="1"/>
          <p:nvPr/>
        </p:nvSpPr>
        <p:spPr>
          <a:xfrm>
            <a:off x="1783080" y="1645919"/>
            <a:ext cx="3794760" cy="658368"/>
          </a:xfrm>
          <a:prstGeom prst="rect">
            <a:avLst/>
          </a:prstGeom>
          <a:noFill/>
        </p:spPr>
        <p:txBody>
          <a:bodyPr wrap="square" lIns="45720" tIns="36576" rIns="45720" bIns="27432">
            <a:spAutoFit/>
          </a:bodyPr>
          <a:lstStyle/>
          <a:p>
            <a:pPr>
              <a:spcAft>
                <a:spcPts val="500"/>
              </a:spcAft>
              <a:defRPr sz="1300" b="0">
                <a:solidFill>
                  <a:srgbClr val="F2F3F6"/>
                </a:solidFill>
                <a:latin typeface="Aptos"/>
              </a:defRPr>
            </a:pPr>
            <a:r>
              <a:t>Java foundations, problem-solving, operators and console I/O</a:t>
            </a:r>
          </a:p>
        </p:txBody>
      </p:sp>
      <p:sp>
        <p:nvSpPr>
          <p:cNvPr id="9" name="Rounded Rectangle 8"/>
          <p:cNvSpPr/>
          <p:nvPr/>
        </p:nvSpPr>
        <p:spPr>
          <a:xfrm>
            <a:off x="6263640" y="1508760"/>
            <a:ext cx="5074920" cy="987552"/>
          </a:xfrm>
          <a:prstGeom prst="roundRect">
            <a:avLst/>
          </a:prstGeom>
          <a:solidFill>
            <a:srgbClr val="1E2128"/>
          </a:solidFill>
          <a:ln>
            <a:solidFill>
              <a:srgbClr val="373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46520" y="1673351"/>
            <a:ext cx="731520" cy="320040"/>
          </a:xfrm>
          <a:prstGeom prst="rect">
            <a:avLst/>
          </a:prstGeom>
          <a:noFill/>
        </p:spPr>
        <p:txBody>
          <a:bodyPr wrap="square" lIns="45720" tIns="36576" rIns="45720" bIns="27432">
            <a:spAutoFit/>
          </a:bodyPr>
          <a:lstStyle/>
          <a:p>
            <a:pPr>
              <a:spcAft>
                <a:spcPts val="500"/>
              </a:spcAft>
              <a:defRPr sz="1600" b="1">
                <a:solidFill>
                  <a:srgbClr val="F5BE2B"/>
                </a:solidFill>
                <a:latin typeface="Aptos"/>
              </a:defRPr>
            </a:pPr>
            <a:r>
              <a:t>CO2</a:t>
            </a:r>
          </a:p>
        </p:txBody>
      </p:sp>
      <p:sp>
        <p:nvSpPr>
          <p:cNvPr id="11" name="TextBox 10"/>
          <p:cNvSpPr txBox="1"/>
          <p:nvPr/>
        </p:nvSpPr>
        <p:spPr>
          <a:xfrm>
            <a:off x="7269479" y="1645919"/>
            <a:ext cx="3794760" cy="658368"/>
          </a:xfrm>
          <a:prstGeom prst="rect">
            <a:avLst/>
          </a:prstGeom>
          <a:noFill/>
        </p:spPr>
        <p:txBody>
          <a:bodyPr wrap="square" lIns="45720" tIns="36576" rIns="45720" bIns="27432">
            <a:spAutoFit/>
          </a:bodyPr>
          <a:lstStyle/>
          <a:p>
            <a:pPr>
              <a:spcAft>
                <a:spcPts val="500"/>
              </a:spcAft>
              <a:defRPr sz="1300" b="0">
                <a:solidFill>
                  <a:srgbClr val="F2F3F6"/>
                </a:solidFill>
                <a:latin typeface="Aptos"/>
              </a:defRPr>
            </a:pPr>
            <a:r>
              <a:t>Conditions, switch statements and loops</a:t>
            </a:r>
          </a:p>
        </p:txBody>
      </p:sp>
      <p:sp>
        <p:nvSpPr>
          <p:cNvPr id="12" name="Rounded Rectangle 11"/>
          <p:cNvSpPr/>
          <p:nvPr/>
        </p:nvSpPr>
        <p:spPr>
          <a:xfrm>
            <a:off x="777240" y="2862072"/>
            <a:ext cx="5074920" cy="987552"/>
          </a:xfrm>
          <a:prstGeom prst="roundRect">
            <a:avLst/>
          </a:prstGeom>
          <a:solidFill>
            <a:srgbClr val="1E2128"/>
          </a:solidFill>
          <a:ln>
            <a:solidFill>
              <a:srgbClr val="373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60120" y="3026664"/>
            <a:ext cx="731520" cy="320040"/>
          </a:xfrm>
          <a:prstGeom prst="rect">
            <a:avLst/>
          </a:prstGeom>
          <a:noFill/>
        </p:spPr>
        <p:txBody>
          <a:bodyPr wrap="square" lIns="45720" tIns="36576" rIns="45720" bIns="27432">
            <a:spAutoFit/>
          </a:bodyPr>
          <a:lstStyle/>
          <a:p>
            <a:pPr>
              <a:spcAft>
                <a:spcPts val="500"/>
              </a:spcAft>
              <a:defRPr sz="1600" b="1">
                <a:solidFill>
                  <a:srgbClr val="F5BE2B"/>
                </a:solidFill>
                <a:latin typeface="Aptos"/>
              </a:defRPr>
            </a:pPr>
            <a:r>
              <a:t>CO3</a:t>
            </a:r>
          </a:p>
        </p:txBody>
      </p:sp>
      <p:sp>
        <p:nvSpPr>
          <p:cNvPr id="14" name="TextBox 13"/>
          <p:cNvSpPr txBox="1"/>
          <p:nvPr/>
        </p:nvSpPr>
        <p:spPr>
          <a:xfrm>
            <a:off x="1783080" y="2999232"/>
            <a:ext cx="3794760" cy="658368"/>
          </a:xfrm>
          <a:prstGeom prst="rect">
            <a:avLst/>
          </a:prstGeom>
          <a:noFill/>
        </p:spPr>
        <p:txBody>
          <a:bodyPr wrap="square" lIns="45720" tIns="36576" rIns="45720" bIns="27432">
            <a:spAutoFit/>
          </a:bodyPr>
          <a:lstStyle/>
          <a:p>
            <a:pPr>
              <a:spcAft>
                <a:spcPts val="500"/>
              </a:spcAft>
              <a:defRPr sz="1300" b="0">
                <a:solidFill>
                  <a:srgbClr val="F2F3F6"/>
                </a:solidFill>
                <a:latin typeface="Aptos"/>
              </a:defRPr>
            </a:pPr>
            <a:r>
              <a:t>Methods, recursion and 1D/2D arrays</a:t>
            </a:r>
          </a:p>
        </p:txBody>
      </p:sp>
      <p:sp>
        <p:nvSpPr>
          <p:cNvPr id="15" name="Rounded Rectangle 14"/>
          <p:cNvSpPr/>
          <p:nvPr/>
        </p:nvSpPr>
        <p:spPr>
          <a:xfrm>
            <a:off x="6263640" y="2862072"/>
            <a:ext cx="5074920" cy="987552"/>
          </a:xfrm>
          <a:prstGeom prst="roundRect">
            <a:avLst/>
          </a:prstGeom>
          <a:solidFill>
            <a:srgbClr val="1E2128"/>
          </a:solidFill>
          <a:ln>
            <a:solidFill>
              <a:srgbClr val="373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46520" y="3026664"/>
            <a:ext cx="731520" cy="320040"/>
          </a:xfrm>
          <a:prstGeom prst="rect">
            <a:avLst/>
          </a:prstGeom>
          <a:noFill/>
        </p:spPr>
        <p:txBody>
          <a:bodyPr wrap="square" lIns="45720" tIns="36576" rIns="45720" bIns="27432">
            <a:spAutoFit/>
          </a:bodyPr>
          <a:lstStyle/>
          <a:p>
            <a:pPr>
              <a:spcAft>
                <a:spcPts val="500"/>
              </a:spcAft>
              <a:defRPr sz="1600" b="1">
                <a:solidFill>
                  <a:srgbClr val="F5BE2B"/>
                </a:solidFill>
                <a:latin typeface="Aptos"/>
              </a:defRPr>
            </a:pPr>
            <a:r>
              <a:t>CO4</a:t>
            </a:r>
          </a:p>
        </p:txBody>
      </p:sp>
      <p:sp>
        <p:nvSpPr>
          <p:cNvPr id="17" name="TextBox 16"/>
          <p:cNvSpPr txBox="1"/>
          <p:nvPr/>
        </p:nvSpPr>
        <p:spPr>
          <a:xfrm>
            <a:off x="7269479" y="2999232"/>
            <a:ext cx="3794760" cy="658368"/>
          </a:xfrm>
          <a:prstGeom prst="rect">
            <a:avLst/>
          </a:prstGeom>
          <a:noFill/>
        </p:spPr>
        <p:txBody>
          <a:bodyPr wrap="square" lIns="45720" tIns="36576" rIns="45720" bIns="27432">
            <a:spAutoFit/>
          </a:bodyPr>
          <a:lstStyle/>
          <a:p>
            <a:pPr>
              <a:spcAft>
                <a:spcPts val="500"/>
              </a:spcAft>
              <a:defRPr sz="1300" b="0">
                <a:solidFill>
                  <a:srgbClr val="F2F3F6"/>
                </a:solidFill>
                <a:latin typeface="Aptos"/>
              </a:defRPr>
            </a:pPr>
            <a:r>
              <a:t>OOP design, inheritance, interfaces and exceptions</a:t>
            </a:r>
          </a:p>
        </p:txBody>
      </p:sp>
      <p:sp>
        <p:nvSpPr>
          <p:cNvPr id="18" name="Rounded Rectangle 17"/>
          <p:cNvSpPr/>
          <p:nvPr/>
        </p:nvSpPr>
        <p:spPr>
          <a:xfrm>
            <a:off x="777240" y="4215383"/>
            <a:ext cx="5074920" cy="987552"/>
          </a:xfrm>
          <a:prstGeom prst="roundRect">
            <a:avLst/>
          </a:prstGeom>
          <a:solidFill>
            <a:srgbClr val="1E2128"/>
          </a:solidFill>
          <a:ln>
            <a:solidFill>
              <a:srgbClr val="373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60120" y="4379975"/>
            <a:ext cx="731520" cy="320040"/>
          </a:xfrm>
          <a:prstGeom prst="rect">
            <a:avLst/>
          </a:prstGeom>
          <a:noFill/>
        </p:spPr>
        <p:txBody>
          <a:bodyPr wrap="square" lIns="45720" tIns="36576" rIns="45720" bIns="27432">
            <a:spAutoFit/>
          </a:bodyPr>
          <a:lstStyle/>
          <a:p>
            <a:pPr>
              <a:spcAft>
                <a:spcPts val="500"/>
              </a:spcAft>
              <a:defRPr sz="1600" b="1">
                <a:solidFill>
                  <a:srgbClr val="F5BE2B"/>
                </a:solidFill>
                <a:latin typeface="Aptos"/>
              </a:defRPr>
            </a:pPr>
            <a:r>
              <a:t>CO5</a:t>
            </a:r>
          </a:p>
        </p:txBody>
      </p:sp>
      <p:sp>
        <p:nvSpPr>
          <p:cNvPr id="20" name="TextBox 19"/>
          <p:cNvSpPr txBox="1"/>
          <p:nvPr/>
        </p:nvSpPr>
        <p:spPr>
          <a:xfrm>
            <a:off x="1783080" y="4352544"/>
            <a:ext cx="3794760" cy="658368"/>
          </a:xfrm>
          <a:prstGeom prst="rect">
            <a:avLst/>
          </a:prstGeom>
          <a:noFill/>
        </p:spPr>
        <p:txBody>
          <a:bodyPr wrap="square" lIns="45720" tIns="36576" rIns="45720" bIns="27432">
            <a:spAutoFit/>
          </a:bodyPr>
          <a:lstStyle/>
          <a:p>
            <a:pPr>
              <a:spcAft>
                <a:spcPts val="500"/>
              </a:spcAft>
              <a:defRPr sz="1300" b="0">
                <a:solidFill>
                  <a:srgbClr val="F2F3F6"/>
                </a:solidFill>
                <a:latin typeface="Aptos"/>
              </a:defRPr>
            </a:pPr>
            <a:r>
              <a:t>Strings, searching/sorting algorithms and file I/O</a:t>
            </a:r>
          </a:p>
        </p:txBody>
      </p:sp>
      <p:sp>
        <p:nvSpPr>
          <p:cNvPr id="21" name="Rounded Rectangle 20"/>
          <p:cNvSpPr/>
          <p:nvPr/>
        </p:nvSpPr>
        <p:spPr>
          <a:xfrm>
            <a:off x="6263640" y="4215383"/>
            <a:ext cx="5074920" cy="987552"/>
          </a:xfrm>
          <a:prstGeom prst="roundRect">
            <a:avLst/>
          </a:prstGeom>
          <a:solidFill>
            <a:srgbClr val="1E2128"/>
          </a:solidFill>
          <a:ln>
            <a:solidFill>
              <a:srgbClr val="373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46520" y="4379975"/>
            <a:ext cx="731520" cy="320040"/>
          </a:xfrm>
          <a:prstGeom prst="rect">
            <a:avLst/>
          </a:prstGeom>
          <a:noFill/>
        </p:spPr>
        <p:txBody>
          <a:bodyPr wrap="square" lIns="45720" tIns="36576" rIns="45720" bIns="27432">
            <a:spAutoFit/>
          </a:bodyPr>
          <a:lstStyle/>
          <a:p>
            <a:pPr>
              <a:spcAft>
                <a:spcPts val="500"/>
              </a:spcAft>
              <a:defRPr sz="1600" b="1">
                <a:solidFill>
                  <a:srgbClr val="F5BE2B"/>
                </a:solidFill>
                <a:latin typeface="Aptos"/>
              </a:defRPr>
            </a:pPr>
            <a:r>
              <a:t>CO6</a:t>
            </a:r>
          </a:p>
        </p:txBody>
      </p:sp>
      <p:sp>
        <p:nvSpPr>
          <p:cNvPr id="23" name="TextBox 22"/>
          <p:cNvSpPr txBox="1"/>
          <p:nvPr/>
        </p:nvSpPr>
        <p:spPr>
          <a:xfrm>
            <a:off x="7269479" y="4352544"/>
            <a:ext cx="3794760" cy="658368"/>
          </a:xfrm>
          <a:prstGeom prst="rect">
            <a:avLst/>
          </a:prstGeom>
          <a:noFill/>
        </p:spPr>
        <p:txBody>
          <a:bodyPr wrap="square" lIns="45720" tIns="36576" rIns="45720" bIns="27432">
            <a:spAutoFit/>
          </a:bodyPr>
          <a:lstStyle/>
          <a:p>
            <a:pPr>
              <a:spcAft>
                <a:spcPts val="500"/>
              </a:spcAft>
              <a:defRPr sz="1300" b="0">
                <a:solidFill>
                  <a:srgbClr val="F2F3F6"/>
                </a:solidFill>
                <a:latin typeface="Aptos"/>
              </a:defRPr>
            </a:pPr>
            <a:r>
              <a:t>Collections, generics, lambdas, functional interfaces and streams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11</TotalTime>
  <Words>1163</Words>
  <Application>Microsoft Office PowerPoint</Application>
  <PresentationFormat>Widescreen</PresentationFormat>
  <Paragraphs>193</Paragraphs>
  <Slides>11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HP</dc:creator>
  <cp:keywords/>
  <dc:description>generated using python-pptx</dc:description>
  <cp:lastModifiedBy>HP</cp:lastModifiedBy>
  <cp:revision>2</cp:revision>
  <dcterms:created xsi:type="dcterms:W3CDTF">2013-01-27T09:14:16Z</dcterms:created>
  <dcterms:modified xsi:type="dcterms:W3CDTF">2026-10-14T03:09:32Z</dcterms:modified>
  <cp:category/>
</cp:coreProperties>
</file>